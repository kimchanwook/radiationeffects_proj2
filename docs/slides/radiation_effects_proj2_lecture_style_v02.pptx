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2" d="100"/>
          <a:sy n="102" d="100"/>
        </p:scale>
        <p:origin x="918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6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11556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Aptos Display"/>
              </a:rPr>
              <a:t>Radiation Effects Project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5A626C"/>
                </a:solidFill>
                <a:latin typeface="Aptos"/>
              </a:rPr>
              <a:t>Physics-lecture version: slides as a compact summary of the physics notes and 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67160" y="6400800"/>
            <a:ext cx="365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5A626C"/>
                </a:solidFill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6766560" cy="3108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63A5F"/>
                </a:solidFill>
                <a:latin typeface="Aptos"/>
              </a:defRPr>
            </a:pPr>
            <a:r>
              <a:rPr dirty="0"/>
              <a:t>Radiation-Induced Defect Evolution and Device Degradation in Silicon</a:t>
            </a:r>
          </a:p>
          <a:p>
            <a:pPr>
              <a:defRPr sz="1800">
                <a:latin typeface="Aptos"/>
              </a:defRPr>
            </a:pPr>
            <a:endParaRPr dirty="0"/>
          </a:p>
          <a:p>
            <a:pPr>
              <a:defRPr sz="1800">
                <a:latin typeface="Aptos"/>
              </a:defRPr>
            </a:pPr>
            <a:r>
              <a:rPr dirty="0"/>
              <a:t>Goal:</a:t>
            </a:r>
          </a:p>
          <a:p>
            <a:pPr>
              <a:defRPr sz="1800">
                <a:latin typeface="Aptos"/>
              </a:defRPr>
            </a:pPr>
            <a:r>
              <a:rPr dirty="0"/>
              <a:t>build a physics-based chain from radiation deposition → defect creation and evolution → field change → carrier-transport change → device degradation</a:t>
            </a:r>
          </a:p>
          <a:p>
            <a:pPr>
              <a:defRPr sz="1800">
                <a:latin typeface="Aptos"/>
              </a:defRPr>
            </a:pPr>
            <a:endParaRPr dirty="0"/>
          </a:p>
          <a:p>
            <a:pPr>
              <a:defRPr sz="1800">
                <a:latin typeface="Aptos"/>
              </a:defRPr>
            </a:pPr>
            <a:r>
              <a:rPr dirty="0"/>
              <a:t>This deck is organized as a lecture:</a:t>
            </a:r>
          </a:p>
          <a:p>
            <a:pPr>
              <a:defRPr sz="1800">
                <a:latin typeface="Aptos"/>
              </a:defRPr>
            </a:pPr>
            <a:r>
              <a:rPr dirty="0"/>
              <a:t>• governing equations</a:t>
            </a:r>
          </a:p>
          <a:p>
            <a:pPr>
              <a:defRPr sz="1800">
                <a:latin typeface="Aptos"/>
              </a:defRPr>
            </a:pPr>
            <a:r>
              <a:rPr dirty="0"/>
              <a:t>• physical interpretation</a:t>
            </a:r>
          </a:p>
          <a:p>
            <a:pPr>
              <a:defRPr sz="1800">
                <a:latin typeface="Aptos"/>
              </a:defRPr>
            </a:pPr>
            <a:r>
              <a:rPr dirty="0"/>
              <a:t>• module-to-module coupling</a:t>
            </a:r>
          </a:p>
          <a:p>
            <a:pPr>
              <a:defRPr sz="1800">
                <a:latin typeface="Aptos"/>
              </a:defRPr>
            </a:pPr>
            <a:r>
              <a:rPr dirty="0"/>
              <a:t>• verification logic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2880360"/>
            <a:ext cx="3566160" cy="2926080"/>
          </a:xfrm>
          <a:prstGeom prst="roundRect">
            <a:avLst/>
          </a:prstGeom>
          <a:solidFill>
            <a:srgbClr val="EAF3F8"/>
          </a:solidFill>
          <a:ln>
            <a:solidFill>
              <a:srgbClr val="2659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321040" y="3420516"/>
            <a:ext cx="30175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 dirty="0">
                <a:solidFill>
                  <a:srgbClr val="26598C"/>
                </a:solidFill>
                <a:latin typeface="Aptos"/>
              </a:rPr>
              <a:t>Place your custom
physics schematic here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5897880"/>
            <a:ext cx="11109960" cy="457200"/>
          </a:xfrm>
          <a:prstGeom prst="roundRect">
            <a:avLst/>
          </a:prstGeom>
          <a:solidFill>
            <a:srgbClr val="F5F7FA"/>
          </a:solidFill>
          <a:ln w="16510">
            <a:solidFill>
              <a:srgbClr val="2C78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8368" y="5980176"/>
            <a:ext cx="10881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E1E1E"/>
                </a:solidFill>
                <a:latin typeface="Aptos"/>
              </a:rPr>
              <a:t>Key point: Treat the project as one connected physical story, not as isolated code modules.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6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11556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Aptos Display"/>
              </a:rPr>
              <a:t>Project physics chain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5A626C"/>
                </a:solidFill>
                <a:latin typeface="Aptos"/>
              </a:rPr>
              <a:t>What the full framework is trying to explain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67160" y="6400800"/>
            <a:ext cx="365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5A626C"/>
                </a:solidFill>
              </a:rPr>
              <a:t>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097280"/>
            <a:ext cx="5440680" cy="347472"/>
          </a:xfrm>
          <a:prstGeom prst="roundRect">
            <a:avLst/>
          </a:prstGeom>
          <a:solidFill>
            <a:srgbClr val="F5F7FA"/>
          </a:solidFill>
          <a:ln>
            <a:solidFill>
              <a:srgbClr val="2659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12648" y="1143000"/>
            <a:ext cx="5212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63A5F"/>
                </a:solidFill>
                <a:latin typeface="Aptos"/>
              </a:rPr>
              <a:t>Causal sequence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097280"/>
            <a:ext cx="5440680" cy="347472"/>
          </a:xfrm>
          <a:prstGeom prst="roundRect">
            <a:avLst/>
          </a:prstGeom>
          <a:solidFill>
            <a:srgbClr val="F5F7FA"/>
          </a:solidFill>
          <a:ln>
            <a:solidFill>
              <a:srgbClr val="2659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281928" y="1143000"/>
            <a:ext cx="5212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63A5F"/>
                </a:solidFill>
                <a:latin typeface="Aptos"/>
              </a:rPr>
              <a:t>Why each step matters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554480"/>
            <a:ext cx="5212080" cy="438912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>
              <a:spcAft>
                <a:spcPts val="600"/>
              </a:spcAft>
              <a:defRPr sz="2100">
                <a:solidFill>
                  <a:srgbClr val="1E1E1E"/>
                </a:solidFill>
                <a:latin typeface="Aptos"/>
              </a:defRPr>
            </a:pPr>
            <a:r>
              <a:t>1. Radiation deposits energy in silicon.</a:t>
            </a:r>
          </a:p>
          <a:p>
            <a:pPr>
              <a:spcAft>
                <a:spcPts val="600"/>
              </a:spcAft>
              <a:defRPr sz="2100">
                <a:solidFill>
                  <a:srgbClr val="1E1E1E"/>
                </a:solidFill>
                <a:latin typeface="Aptos"/>
              </a:defRPr>
            </a:pPr>
            <a:r>
              <a:t>2. Deposited energy seeds point defects and effective defect populations.</a:t>
            </a:r>
          </a:p>
          <a:p>
            <a:pPr>
              <a:spcAft>
                <a:spcPts val="600"/>
              </a:spcAft>
              <a:defRPr sz="2100">
                <a:solidFill>
                  <a:srgbClr val="1E1E1E"/>
                </a:solidFill>
                <a:latin typeface="Aptos"/>
              </a:defRPr>
            </a:pPr>
            <a:r>
              <a:t>3. Defects diffuse, react, cluster, dissociate, and anneal.</a:t>
            </a:r>
          </a:p>
          <a:p>
            <a:pPr>
              <a:spcAft>
                <a:spcPts val="600"/>
              </a:spcAft>
              <a:defRPr sz="2100">
                <a:solidFill>
                  <a:srgbClr val="1E1E1E"/>
                </a:solidFill>
                <a:latin typeface="Aptos"/>
              </a:defRPr>
            </a:pPr>
            <a:r>
              <a:t>4. Charged defects modify the space-charge density.</a:t>
            </a:r>
          </a:p>
          <a:p>
            <a:pPr>
              <a:spcAft>
                <a:spcPts val="600"/>
              </a:spcAft>
              <a:defRPr sz="2100">
                <a:solidFill>
                  <a:srgbClr val="1E1E1E"/>
                </a:solidFill>
                <a:latin typeface="Aptos"/>
              </a:defRPr>
            </a:pPr>
            <a:r>
              <a:t>5. The electrostatic field and temperature field change carrier motion.</a:t>
            </a:r>
          </a:p>
          <a:p>
            <a:pPr>
              <a:spcAft>
                <a:spcPts val="600"/>
              </a:spcAft>
              <a:defRPr sz="2100">
                <a:solidFill>
                  <a:srgbClr val="1E1E1E"/>
                </a:solidFill>
                <a:latin typeface="Aptos"/>
              </a:defRPr>
            </a:pPr>
            <a:r>
              <a:t>6. Carrier transport and recombination change measurable device behavior.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1554480"/>
            <a:ext cx="5212080" cy="438912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>
              <a:spcAft>
                <a:spcPts val="600"/>
              </a:spcAft>
              <a:defRPr sz="2000">
                <a:solidFill>
                  <a:srgbClr val="1E1E1E"/>
                </a:solidFill>
                <a:latin typeface="Aptos"/>
              </a:defRPr>
            </a:pPr>
            <a:r>
              <a:t>Damage is not only about where energy was initially deposited.</a:t>
            </a:r>
          </a:p>
          <a:p>
            <a:pPr>
              <a:spcAft>
                <a:spcPts val="600"/>
              </a:spcAft>
              <a:defRPr sz="2000">
                <a:solidFill>
                  <a:srgbClr val="1E1E1E"/>
                </a:solidFill>
                <a:latin typeface="Aptos"/>
              </a:defRPr>
            </a:pPr>
            <a:r>
              <a:t>The later evolution matters because the material keeps changing after the radiation event.</a:t>
            </a:r>
          </a:p>
          <a:p>
            <a:pPr>
              <a:spcAft>
                <a:spcPts val="600"/>
              </a:spcAft>
              <a:defRPr sz="2000">
                <a:solidFill>
                  <a:srgbClr val="1E1E1E"/>
                </a:solidFill>
                <a:latin typeface="Aptos"/>
              </a:defRPr>
            </a:pPr>
            <a:r>
              <a:t>Temperature is active physics, not a bookkeeping variable: it changes diffusion coefficients, annealing rates, mobility, and recombination.</a:t>
            </a:r>
          </a:p>
          <a:p>
            <a:pPr>
              <a:spcAft>
                <a:spcPts val="600"/>
              </a:spcAft>
              <a:defRPr sz="2000">
                <a:solidFill>
                  <a:srgbClr val="1E1E1E"/>
                </a:solidFill>
                <a:latin typeface="Aptos"/>
              </a:defRPr>
            </a:pPr>
            <a:r>
              <a:t>The final quantity of interest is device degradation, so the framework must connect materials physics to electronic behavior.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5897880"/>
            <a:ext cx="11109960" cy="457200"/>
          </a:xfrm>
          <a:prstGeom prst="roundRect">
            <a:avLst/>
          </a:prstGeom>
          <a:solidFill>
            <a:srgbClr val="F5F7FA"/>
          </a:solidFill>
          <a:ln w="16510">
            <a:solidFill>
              <a:srgbClr val="2C78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58368" y="5980176"/>
            <a:ext cx="10881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E1E1E"/>
                </a:solidFill>
                <a:latin typeface="Aptos"/>
              </a:rPr>
              <a:t>Key point: A deposition map is only the beginning; the project is about the downstream evolution of that damage.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6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11556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Aptos Display"/>
              </a:rPr>
              <a:t>Roadmap and run order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5A626C"/>
                </a:solidFill>
                <a:latin typeface="Aptos"/>
              </a:rPr>
              <a:t>How the modules fit together in the intended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67160" y="6400800"/>
            <a:ext cx="365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5A626C"/>
                </a:solidFill>
              </a:rPr>
              <a:t>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234440"/>
            <a:ext cx="10972800" cy="1005840"/>
          </a:xfrm>
          <a:prstGeom prst="roundRect">
            <a:avLst/>
          </a:prstGeom>
          <a:solidFill>
            <a:srgbClr val="EAF3F8"/>
          </a:solidFill>
          <a:ln w="15875">
            <a:solidFill>
              <a:srgbClr val="2659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94360" y="1234440"/>
            <a:ext cx="10972800" cy="310896"/>
          </a:xfrm>
          <a:prstGeom prst="rect">
            <a:avLst/>
          </a:prstGeom>
          <a:solidFill>
            <a:srgbClr val="2659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04088" y="1261872"/>
            <a:ext cx="10789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Aptos"/>
              </a:rPr>
              <a:t>Full workflow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1636776"/>
            <a:ext cx="10680192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>
                <a:solidFill>
                  <a:srgbClr val="1E1E1E"/>
                </a:solidFill>
                <a:latin typeface="Cambria Math"/>
              </a:rPr>
              <a:t>Module 1 → Module 3 → Module 4a / 4b → Module 2 → Module 5 → Module 6 → Module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514600"/>
            <a:ext cx="5303520" cy="301752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>
              <a:spcAft>
                <a:spcPts val="600"/>
              </a:spcAft>
              <a:defRPr sz="1900">
                <a:solidFill>
                  <a:srgbClr val="1E1E1E"/>
                </a:solidFill>
                <a:latin typeface="Aptos"/>
              </a:defRPr>
            </a:pPr>
            <a:r>
              <a:t>Module 1: interaction-resolved Geant4 radiation deposition campaign</a:t>
            </a:r>
          </a:p>
          <a:p>
            <a:pPr>
              <a:spcAft>
                <a:spcPts val="600"/>
              </a:spcAft>
              <a:defRPr sz="1900">
                <a:solidFill>
                  <a:srgbClr val="1E1E1E"/>
                </a:solidFill>
                <a:latin typeface="Aptos"/>
              </a:defRPr>
            </a:pPr>
            <a:r>
              <a:t>Module 3: 2D defect evolution with diffusion, reaction, and annealing</a:t>
            </a:r>
          </a:p>
          <a:p>
            <a:pPr>
              <a:spcAft>
                <a:spcPts val="600"/>
              </a:spcAft>
              <a:defRPr sz="1900">
                <a:solidFill>
                  <a:srgbClr val="1E1E1E"/>
                </a:solidFill>
                <a:latin typeface="Aptos"/>
              </a:defRPr>
            </a:pPr>
            <a:r>
              <a:t>Module 4a: continuum thermal transport baseline</a:t>
            </a:r>
          </a:p>
          <a:p>
            <a:pPr>
              <a:spcAft>
                <a:spcPts val="600"/>
              </a:spcAft>
              <a:defRPr sz="1900">
                <a:solidFill>
                  <a:srgbClr val="1E1E1E"/>
                </a:solidFill>
                <a:latin typeface="Aptos"/>
              </a:defRPr>
            </a:pPr>
            <a:r>
              <a:t>Module 4b: phonon-aware thermal comparison branch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2514600"/>
            <a:ext cx="5303520" cy="301752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>
              <a:spcAft>
                <a:spcPts val="600"/>
              </a:spcAft>
              <a:defRPr sz="1900">
                <a:solidFill>
                  <a:srgbClr val="1E1E1E"/>
                </a:solidFill>
                <a:latin typeface="Aptos"/>
              </a:defRPr>
            </a:pPr>
            <a:r>
              <a:t>Module 2: 2D electrostatics with defect-dependent space charge</a:t>
            </a:r>
          </a:p>
          <a:p>
            <a:pPr>
              <a:spcAft>
                <a:spcPts val="600"/>
              </a:spcAft>
              <a:defRPr sz="1900">
                <a:solidFill>
                  <a:srgbClr val="1E1E1E"/>
                </a:solidFill>
                <a:latin typeface="Aptos"/>
              </a:defRPr>
            </a:pPr>
            <a:r>
              <a:t>Module 5: 2D drift-diffusion carrier transport with defect-assisted recombination</a:t>
            </a:r>
          </a:p>
          <a:p>
            <a:pPr>
              <a:spcAft>
                <a:spcPts val="600"/>
              </a:spcAft>
              <a:defRPr sz="1900">
                <a:solidFill>
                  <a:srgbClr val="1E1E1E"/>
                </a:solidFill>
                <a:latin typeface="Aptos"/>
              </a:defRPr>
            </a:pPr>
            <a:r>
              <a:t>Module 6: self-consistent multiphysics iteration</a:t>
            </a:r>
          </a:p>
          <a:p>
            <a:pPr>
              <a:spcAft>
                <a:spcPts val="600"/>
              </a:spcAft>
              <a:defRPr sz="1900">
                <a:solidFill>
                  <a:srgbClr val="1E1E1E"/>
                </a:solidFill>
                <a:latin typeface="Aptos"/>
              </a:defRPr>
            </a:pPr>
            <a:r>
              <a:t>Module 7: extrapolation to larger scales and rarer events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5897880"/>
            <a:ext cx="11109960" cy="457200"/>
          </a:xfrm>
          <a:prstGeom prst="roundRect">
            <a:avLst/>
          </a:prstGeom>
          <a:solidFill>
            <a:srgbClr val="F5F7FA"/>
          </a:solidFill>
          <a:ln w="16510">
            <a:solidFill>
              <a:srgbClr val="2C78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58368" y="5980176"/>
            <a:ext cx="10881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E1E1E"/>
                </a:solidFill>
                <a:latin typeface="Aptos"/>
              </a:rPr>
              <a:t>Key point: The project is built to move from an externally imposed radiation insult to a self-consistent degraded device state.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6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11556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Aptos Display"/>
              </a:rPr>
              <a:t>Architecture decisions behind Project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5A626C"/>
                </a:solidFill>
                <a:latin typeface="Aptos"/>
              </a:rPr>
              <a:t>Why the revision moved to 2D and split the thermal module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67160" y="6400800"/>
            <a:ext cx="365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5A626C"/>
                </a:solidFill>
              </a:rPr>
              <a:t>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097280"/>
            <a:ext cx="5440680" cy="347472"/>
          </a:xfrm>
          <a:prstGeom prst="roundRect">
            <a:avLst/>
          </a:prstGeom>
          <a:solidFill>
            <a:srgbClr val="F5F7FA"/>
          </a:solidFill>
          <a:ln>
            <a:solidFill>
              <a:srgbClr val="2659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12648" y="1143000"/>
            <a:ext cx="5212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63A5F"/>
                </a:solidFill>
                <a:latin typeface="Aptos"/>
              </a:rPr>
              <a:t>Why 2D for Modules 2–6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097280"/>
            <a:ext cx="5440680" cy="347472"/>
          </a:xfrm>
          <a:prstGeom prst="roundRect">
            <a:avLst/>
          </a:prstGeom>
          <a:solidFill>
            <a:srgbClr val="F5F7FA"/>
          </a:solidFill>
          <a:ln>
            <a:solidFill>
              <a:srgbClr val="2659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281928" y="1143000"/>
            <a:ext cx="5212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63A5F"/>
                </a:solidFill>
                <a:latin typeface="Aptos"/>
              </a:rPr>
              <a:t>Why split Module 4 into 4a and 4b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554480"/>
            <a:ext cx="5257800" cy="429768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>
              <a:spcAft>
                <a:spcPts val="600"/>
              </a:spcAft>
              <a:defRPr sz="2000">
                <a:solidFill>
                  <a:srgbClr val="1E1E1E"/>
                </a:solidFill>
                <a:latin typeface="Aptos"/>
              </a:defRPr>
            </a:pPr>
            <a:r>
              <a:t>A 1D model suppresses lateral spreading, field bending, localized heating, and current crowding.</a:t>
            </a:r>
          </a:p>
          <a:p>
            <a:pPr>
              <a:spcAft>
                <a:spcPts val="600"/>
              </a:spcAft>
              <a:defRPr sz="2000">
                <a:solidFill>
                  <a:srgbClr val="1E1E1E"/>
                </a:solidFill>
                <a:latin typeface="Aptos"/>
              </a:defRPr>
            </a:pPr>
            <a:r>
              <a:t>A Geant4 deposition pattern is naturally spatially structured, so the downstream modules should preserve that structure.</a:t>
            </a:r>
          </a:p>
          <a:p>
            <a:pPr>
              <a:spcAft>
                <a:spcPts val="600"/>
              </a:spcAft>
              <a:defRPr sz="2000">
                <a:solidFill>
                  <a:srgbClr val="1E1E1E"/>
                </a:solidFill>
                <a:latin typeface="Aptos"/>
              </a:defRPr>
            </a:pPr>
            <a:r>
              <a:t>The first 2D implementations can still stay simple: rectangular domains, structured grids, simple boundary conditions, and weak coupling.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1554480"/>
            <a:ext cx="5166360" cy="429768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>
              <a:spcAft>
                <a:spcPts val="600"/>
              </a:spcAft>
              <a:defRPr sz="2000">
                <a:solidFill>
                  <a:srgbClr val="1E1E1E"/>
                </a:solidFill>
                <a:latin typeface="Aptos"/>
              </a:defRPr>
            </a:pPr>
            <a:r>
              <a:t>Module 4a is the baseline continuum heat-equation model.</a:t>
            </a:r>
          </a:p>
          <a:p>
            <a:pPr>
              <a:spcAft>
                <a:spcPts val="600"/>
              </a:spcAft>
              <a:defRPr sz="2000">
                <a:solidFill>
                  <a:srgbClr val="1E1E1E"/>
                </a:solidFill>
                <a:latin typeface="Aptos"/>
              </a:defRPr>
            </a:pPr>
            <a:r>
              <a:t>Module 4b is the richer phonon-aware branch for cases where bulk conductivity is not enough.</a:t>
            </a:r>
          </a:p>
          <a:p>
            <a:pPr>
              <a:spcAft>
                <a:spcPts val="600"/>
              </a:spcAft>
              <a:defRPr sz="2000">
                <a:solidFill>
                  <a:srgbClr val="1E1E1E"/>
                </a:solidFill>
                <a:latin typeface="Aptos"/>
              </a:defRPr>
            </a:pPr>
            <a:r>
              <a:t>This split lets the project compare a simpler thermal model against a more physically detailed one instead of assuming the richer model is always necessary.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5897880"/>
            <a:ext cx="11109960" cy="457200"/>
          </a:xfrm>
          <a:prstGeom prst="roundRect">
            <a:avLst/>
          </a:prstGeom>
          <a:solidFill>
            <a:srgbClr val="F5F7FA"/>
          </a:solidFill>
          <a:ln w="16510">
            <a:solidFill>
              <a:srgbClr val="2C78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58368" y="5980176"/>
            <a:ext cx="10881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E1E1E"/>
                </a:solidFill>
                <a:latin typeface="Aptos"/>
              </a:rPr>
              <a:t>Key point: The revision is not complexity for its own sake; it preserves the spatial physics that matter while keeping the first implementation executable.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6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11556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Aptos Display"/>
              </a:rPr>
              <a:t>Module 2: electrostatics starts from Gauss's law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5A626C"/>
                </a:solidFill>
                <a:latin typeface="Aptos"/>
              </a:rPr>
              <a:t>Physics note summary: from Maxwell to the Poisson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67160" y="6400800"/>
            <a:ext cx="365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5A626C"/>
                </a:solidFill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17320"/>
            <a:ext cx="5212080" cy="448056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>
              <a:spcAft>
                <a:spcPts val="600"/>
              </a:spcAft>
              <a:defRPr sz="2000">
                <a:solidFill>
                  <a:srgbClr val="1E1E1E"/>
                </a:solidFill>
                <a:latin typeface="Aptos"/>
              </a:defRPr>
            </a:pPr>
            <a:r>
              <a:rPr dirty="0"/>
              <a:t>In the electrostatic limit, the magnetic time-variation terms drop out and the problem reduces to the scalar electric potential.</a:t>
            </a:r>
          </a:p>
          <a:p>
            <a:pPr>
              <a:spcAft>
                <a:spcPts val="600"/>
              </a:spcAft>
              <a:defRPr sz="2000">
                <a:solidFill>
                  <a:srgbClr val="1E1E1E"/>
                </a:solidFill>
                <a:latin typeface="Aptos"/>
              </a:defRPr>
            </a:pPr>
            <a:r>
              <a:rPr dirty="0"/>
              <a:t>With E = −∇φ and ∇·E = ρ/ε, the governing equation becomes a Poisson equation for φ.</a:t>
            </a:r>
          </a:p>
          <a:p>
            <a:pPr>
              <a:spcAft>
                <a:spcPts val="600"/>
              </a:spcAft>
              <a:defRPr sz="2000">
                <a:solidFill>
                  <a:srgbClr val="1E1E1E"/>
                </a:solidFill>
                <a:latin typeface="Aptos"/>
              </a:defRPr>
            </a:pPr>
            <a:r>
              <a:rPr dirty="0"/>
              <a:t>This is the natural equation because the local curvature of φ is determined by the local space-charge density.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325880"/>
            <a:ext cx="5212080" cy="1828800"/>
          </a:xfrm>
          <a:prstGeom prst="roundRect">
            <a:avLst/>
          </a:prstGeom>
          <a:solidFill>
            <a:srgbClr val="EAF3F8"/>
          </a:solidFill>
          <a:ln w="15875">
            <a:solidFill>
              <a:srgbClr val="2659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126480" y="1325880"/>
            <a:ext cx="5212080" cy="310896"/>
          </a:xfrm>
          <a:prstGeom prst="rect">
            <a:avLst/>
          </a:prstGeom>
          <a:solidFill>
            <a:srgbClr val="2659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236208" y="1353312"/>
            <a:ext cx="5029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Aptos"/>
              </a:rPr>
              <a:t>Core electrostatic chain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91072" y="1828800"/>
            <a:ext cx="4919472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>
                <a:solidFill>
                  <a:srgbClr val="1E1E1E"/>
                </a:solidFill>
                <a:latin typeface="Cambria Math"/>
              </a:rPr>
              <a:t>∇ · E = ρ / ε</a:t>
            </a:r>
          </a:p>
          <a:p>
            <a:pPr algn="ctr"/>
            <a:r>
              <a:rPr sz="2000">
                <a:solidFill>
                  <a:srgbClr val="1E1E1E"/>
                </a:solidFill>
                <a:latin typeface="Cambria Math"/>
              </a:rPr>
              <a:t>E = − ∇φ</a:t>
            </a:r>
          </a:p>
          <a:p>
            <a:pPr algn="ctr"/>
            <a:r>
              <a:rPr sz="2000">
                <a:solidFill>
                  <a:srgbClr val="1E1E1E"/>
                </a:solidFill>
                <a:latin typeface="Cambria Math"/>
              </a:rPr>
              <a:t>⇒  ∇ · ( ε ∇φ ) = − ρ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3429000"/>
            <a:ext cx="5212080" cy="1371600"/>
          </a:xfrm>
          <a:prstGeom prst="roundRect">
            <a:avLst/>
          </a:prstGeom>
          <a:solidFill>
            <a:srgbClr val="F5F7FA"/>
          </a:solidFill>
          <a:ln w="15875">
            <a:solidFill>
              <a:srgbClr val="2659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126480" y="3429000"/>
            <a:ext cx="5212080" cy="310896"/>
          </a:xfrm>
          <a:prstGeom prst="rect">
            <a:avLst/>
          </a:prstGeom>
          <a:solidFill>
            <a:srgbClr val="2659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236208" y="3456432"/>
            <a:ext cx="5029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Aptos"/>
              </a:rPr>
              <a:t>Uniform-permittivity limit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91072" y="3831336"/>
            <a:ext cx="4919472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>
                <a:solidFill>
                  <a:srgbClr val="1E1E1E"/>
                </a:solidFill>
                <a:latin typeface="Cambria Math"/>
              </a:rPr>
              <a:t>ε ∇²φ = − ρ</a:t>
            </a:r>
          </a:p>
          <a:p>
            <a:pPr algn="ctr"/>
            <a:r>
              <a:rPr sz="2000">
                <a:solidFill>
                  <a:srgbClr val="1E1E1E"/>
                </a:solidFill>
                <a:latin typeface="Cambria Math"/>
              </a:rPr>
              <a:t>or  ∇²φ = − ρ / ε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5897880"/>
            <a:ext cx="11109960" cy="457200"/>
          </a:xfrm>
          <a:prstGeom prst="roundRect">
            <a:avLst/>
          </a:prstGeom>
          <a:solidFill>
            <a:srgbClr val="F5F7FA"/>
          </a:solidFill>
          <a:ln w="16510">
            <a:solidFill>
              <a:srgbClr val="2C78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58368" y="5980176"/>
            <a:ext cx="10881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E1E1E"/>
                </a:solidFill>
                <a:latin typeface="Aptos"/>
              </a:rPr>
              <a:t>Key point: Module 2 is fundamentally a space-charge-to-potential map.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6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11556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Aptos Display"/>
              </a:rPr>
              <a:t>Module 2: what makes up the semiconductor space charge?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5A626C"/>
                </a:solidFill>
                <a:latin typeface="Aptos"/>
              </a:rPr>
              <a:t>The electrostatic source term is a sum of mobile, dopant, and defect charges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67160" y="6400800"/>
            <a:ext cx="365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5A626C"/>
                </a:solidFill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17320"/>
            <a:ext cx="5303520" cy="448056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>
              <a:spcAft>
                <a:spcPts val="600"/>
              </a:spcAft>
              <a:defRPr sz="2000">
                <a:solidFill>
                  <a:srgbClr val="1E1E1E"/>
                </a:solidFill>
                <a:latin typeface="Aptos"/>
              </a:defRPr>
            </a:pPr>
            <a:r>
              <a:t>The net charge density is not one thing; it is a sum of all charged constituents in the semiconductor.</a:t>
            </a:r>
          </a:p>
          <a:p>
            <a:pPr>
              <a:spcAft>
                <a:spcPts val="600"/>
              </a:spcAft>
              <a:defRPr sz="2000">
                <a:solidFill>
                  <a:srgbClr val="1E1E1E"/>
                </a:solidFill>
                <a:latin typeface="Aptos"/>
              </a:defRPr>
            </a:pPr>
            <a:r>
              <a:t>Electrons and holes contribute mobile charge.</a:t>
            </a:r>
          </a:p>
          <a:p>
            <a:pPr>
              <a:spcAft>
                <a:spcPts val="600"/>
              </a:spcAft>
              <a:defRPr sz="2000">
                <a:solidFill>
                  <a:srgbClr val="1E1E1E"/>
                </a:solidFill>
                <a:latin typeface="Aptos"/>
              </a:defRPr>
            </a:pPr>
            <a:r>
              <a:t>Ionized donors and acceptors contribute fixed dopant charge.</a:t>
            </a:r>
          </a:p>
          <a:p>
            <a:pPr>
              <a:spcAft>
                <a:spcPts val="600"/>
              </a:spcAft>
              <a:defRPr sz="2000">
                <a:solidFill>
                  <a:srgbClr val="1E1E1E"/>
                </a:solidFill>
                <a:latin typeface="Aptos"/>
              </a:defRPr>
            </a:pPr>
            <a:r>
              <a:t>Radiation-induced defects contribute additional charged states and can perturb depletion structure and field profiles.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1325880"/>
            <a:ext cx="5074920" cy="1965960"/>
          </a:xfrm>
          <a:prstGeom prst="roundRect">
            <a:avLst/>
          </a:prstGeom>
          <a:solidFill>
            <a:srgbClr val="EAF3F8"/>
          </a:solidFill>
          <a:ln w="15875">
            <a:solidFill>
              <a:srgbClr val="2659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172200" y="1325880"/>
            <a:ext cx="5074920" cy="310896"/>
          </a:xfrm>
          <a:prstGeom prst="rect">
            <a:avLst/>
          </a:prstGeom>
          <a:solidFill>
            <a:srgbClr val="2659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281928" y="1353312"/>
            <a:ext cx="48920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Aptos"/>
              </a:rPr>
              <a:t>Charge-density decomposition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36792" y="1728216"/>
            <a:ext cx="4782312" cy="1508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>
                <a:solidFill>
                  <a:srgbClr val="1E1E1E"/>
                </a:solidFill>
                <a:latin typeface="Cambria Math"/>
              </a:rPr>
              <a:t>ρ = q ( p − n + N_D^+ − N_A^- + Σ_j z_j C_j 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3611880"/>
            <a:ext cx="5074920" cy="1645920"/>
          </a:xfrm>
          <a:prstGeom prst="roundRect">
            <a:avLst/>
          </a:prstGeom>
          <a:solidFill>
            <a:srgbClr val="F5F7FA"/>
          </a:solidFill>
          <a:ln w="15875">
            <a:solidFill>
              <a:srgbClr val="2659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172200" y="3611880"/>
            <a:ext cx="5074920" cy="310896"/>
          </a:xfrm>
          <a:prstGeom prst="rect">
            <a:avLst/>
          </a:prstGeom>
          <a:solidFill>
            <a:srgbClr val="2659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281928" y="3639312"/>
            <a:ext cx="48920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Aptos"/>
              </a:rPr>
              <a:t>Project 2D Poisson equation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36792" y="4014216"/>
            <a:ext cx="4782312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>
                <a:solidFill>
                  <a:srgbClr val="1E1E1E"/>
                </a:solidFill>
                <a:latin typeface="Cambria Math"/>
              </a:rPr>
              <a:t>∂/∂x ( ε ∂φ/∂x ) + ∂/∂y ( ε ∂φ/∂y ) = − ρ(x,y)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5897880"/>
            <a:ext cx="11109960" cy="457200"/>
          </a:xfrm>
          <a:prstGeom prst="roundRect">
            <a:avLst/>
          </a:prstGeom>
          <a:solidFill>
            <a:srgbClr val="F5F7FA"/>
          </a:solidFill>
          <a:ln w="16510">
            <a:solidFill>
              <a:srgbClr val="2C78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58368" y="5980176"/>
            <a:ext cx="10881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E1E1E"/>
                </a:solidFill>
                <a:latin typeface="Aptos"/>
              </a:rPr>
              <a:t>Key point: Defect physics enters Module 2 by changing the source term ρ(x,y), not by replacing electrostatics.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6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11556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Aptos Display"/>
              </a:rPr>
              <a:t>Module 2: boundary conditions, coupling, and verification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5A626C"/>
                </a:solidFill>
                <a:latin typeface="Aptos"/>
              </a:rPr>
              <a:t>What must be prescribed, what is received, and what is checked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67160" y="6400800"/>
            <a:ext cx="365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5A626C"/>
                </a:solidFill>
              </a:rPr>
              <a:t>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097280"/>
            <a:ext cx="5440680" cy="347472"/>
          </a:xfrm>
          <a:prstGeom prst="roundRect">
            <a:avLst/>
          </a:prstGeom>
          <a:solidFill>
            <a:srgbClr val="F5F7FA"/>
          </a:solidFill>
          <a:ln>
            <a:solidFill>
              <a:srgbClr val="2659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12648" y="1143000"/>
            <a:ext cx="5212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63A5F"/>
                </a:solidFill>
                <a:latin typeface="Aptos"/>
              </a:rPr>
              <a:t>Boundary conditions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097280"/>
            <a:ext cx="5440680" cy="347472"/>
          </a:xfrm>
          <a:prstGeom prst="roundRect">
            <a:avLst/>
          </a:prstGeom>
          <a:solidFill>
            <a:srgbClr val="F5F7FA"/>
          </a:solidFill>
          <a:ln>
            <a:solidFill>
              <a:srgbClr val="2659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281928" y="1143000"/>
            <a:ext cx="5212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63A5F"/>
                </a:solidFill>
                <a:latin typeface="Aptos"/>
              </a:rPr>
              <a:t>Coupling and verification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554480"/>
            <a:ext cx="5212080" cy="425196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>
              <a:spcAft>
                <a:spcPts val="600"/>
              </a:spcAft>
              <a:defRPr sz="2000">
                <a:solidFill>
                  <a:srgbClr val="1E1E1E"/>
                </a:solidFill>
                <a:latin typeface="Aptos"/>
              </a:defRPr>
            </a:pPr>
            <a:r>
              <a:t>Dirichlet: prescribe φ at a contact or biased boundary.</a:t>
            </a:r>
          </a:p>
          <a:p>
            <a:pPr>
              <a:spcAft>
                <a:spcPts val="600"/>
              </a:spcAft>
              <a:defRPr sz="2000">
                <a:solidFill>
                  <a:srgbClr val="1E1E1E"/>
                </a:solidFill>
                <a:latin typeface="Aptos"/>
              </a:defRPr>
            </a:pPr>
            <a:r>
              <a:t>Neumann: prescribe normal electric flux, equivalent to surface charge or insulated symmetry conditions.</a:t>
            </a:r>
          </a:p>
          <a:p>
            <a:pPr>
              <a:spcAft>
                <a:spcPts val="600"/>
              </a:spcAft>
              <a:defRPr sz="2000">
                <a:solidFill>
                  <a:srgbClr val="1E1E1E"/>
                </a:solidFill>
                <a:latin typeface="Aptos"/>
              </a:defRPr>
            </a:pPr>
            <a:r>
              <a:t>Mixed physical picture: contacts may be Dirichlet, symmetry planes often Neumann.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1554480"/>
            <a:ext cx="5212080" cy="425196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>
              <a:spcAft>
                <a:spcPts val="600"/>
              </a:spcAft>
              <a:defRPr sz="1900">
                <a:solidFill>
                  <a:srgbClr val="1E1E1E"/>
                </a:solidFill>
                <a:latin typeface="Aptos"/>
              </a:defRPr>
            </a:pPr>
            <a:r>
              <a:t>Input from Module 3: charged defect populations C_j(x,y,t).</a:t>
            </a:r>
          </a:p>
          <a:p>
            <a:pPr>
              <a:spcAft>
                <a:spcPts val="600"/>
              </a:spcAft>
              <a:defRPr sz="1900">
                <a:solidFill>
                  <a:srgbClr val="1E1E1E"/>
                </a:solidFill>
                <a:latin typeface="Aptos"/>
              </a:defRPr>
            </a:pPr>
            <a:r>
              <a:t>Input from Module 4: temperature-dependent quantities if permittivity or occupations are later made temperature-sensitive.</a:t>
            </a:r>
          </a:p>
          <a:p>
            <a:pPr>
              <a:spcAft>
                <a:spcPts val="600"/>
              </a:spcAft>
              <a:defRPr sz="1900">
                <a:solidFill>
                  <a:srgbClr val="1E1E1E"/>
                </a:solidFill>
                <a:latin typeface="Aptos"/>
              </a:defRPr>
            </a:pPr>
            <a:r>
              <a:t>Output to Module 5: electric potential φ and field E = −∇φ.</a:t>
            </a:r>
          </a:p>
          <a:p>
            <a:pPr>
              <a:spcAft>
                <a:spcPts val="600"/>
              </a:spcAft>
              <a:defRPr sz="1900">
                <a:solidFill>
                  <a:srgbClr val="1E1E1E"/>
                </a:solidFill>
                <a:latin typeface="Aptos"/>
              </a:defRPr>
            </a:pPr>
            <a:r>
              <a:t>Verification cases: zero charge, linear potential, uniform space charge, and a defect-charge perturbation test.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5897880"/>
            <a:ext cx="11109960" cy="457200"/>
          </a:xfrm>
          <a:prstGeom prst="roundRect">
            <a:avLst/>
          </a:prstGeom>
          <a:solidFill>
            <a:srgbClr val="F5F7FA"/>
          </a:solidFill>
          <a:ln w="16510">
            <a:solidFill>
              <a:srgbClr val="2C78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58368" y="5980176"/>
            <a:ext cx="10881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E1E1E"/>
                </a:solidFill>
                <a:latin typeface="Aptos"/>
              </a:rPr>
              <a:t>Key point: Module 2 is only as good as the defect populations and boundary conditions that feed it.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6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11556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Aptos Display"/>
              </a:rPr>
              <a:t>Module 3: defect evolution begins with a conservation law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5A626C"/>
                </a:solidFill>
                <a:latin typeface="Aptos"/>
              </a:rPr>
              <a:t>Physics note summary: balance law + Fick transport + reaction kinetics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67160" y="6400800"/>
            <a:ext cx="365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5A626C"/>
                </a:solidFill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325880"/>
            <a:ext cx="5303520" cy="452628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>
              <a:spcAft>
                <a:spcPts val="600"/>
              </a:spcAft>
              <a:defRPr sz="2000">
                <a:solidFill>
                  <a:srgbClr val="1E1E1E"/>
                </a:solidFill>
                <a:latin typeface="Aptos"/>
              </a:defRPr>
            </a:pPr>
            <a:r>
              <a:t>The state variable is a continuum defect concentration C(x,y,t).</a:t>
            </a:r>
          </a:p>
          <a:p>
            <a:pPr>
              <a:spcAft>
                <a:spcPts val="600"/>
              </a:spcAft>
              <a:defRPr sz="2000">
                <a:solidFill>
                  <a:srgbClr val="1E1E1E"/>
                </a:solidFill>
                <a:latin typeface="Aptos"/>
              </a:defRPr>
            </a:pPr>
            <a:r>
              <a:t>Conservation says the time-rate of change equals inflow/outflow plus local sources and sinks.</a:t>
            </a:r>
          </a:p>
          <a:p>
            <a:pPr>
              <a:spcAft>
                <a:spcPts val="600"/>
              </a:spcAft>
              <a:defRPr sz="2000">
                <a:solidFill>
                  <a:srgbClr val="1E1E1E"/>
                </a:solidFill>
                <a:latin typeface="Aptos"/>
              </a:defRPr>
            </a:pPr>
            <a:r>
              <a:t>Diffusion arises because defects drift down a concentration gradient.</a:t>
            </a:r>
          </a:p>
          <a:p>
            <a:pPr>
              <a:spcAft>
                <a:spcPts val="600"/>
              </a:spcAft>
              <a:defRPr sz="2000">
                <a:solidFill>
                  <a:srgbClr val="1E1E1E"/>
                </a:solidFill>
                <a:latin typeface="Aptos"/>
              </a:defRPr>
            </a:pPr>
            <a:r>
              <a:t>Annealing and reactions are represented by sink/source terms.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1325880"/>
            <a:ext cx="5074920" cy="1965960"/>
          </a:xfrm>
          <a:prstGeom prst="roundRect">
            <a:avLst/>
          </a:prstGeom>
          <a:solidFill>
            <a:srgbClr val="EAF3F8"/>
          </a:solidFill>
          <a:ln w="15875">
            <a:solidFill>
              <a:srgbClr val="2659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172200" y="1325880"/>
            <a:ext cx="5074920" cy="310896"/>
          </a:xfrm>
          <a:prstGeom prst="rect">
            <a:avLst/>
          </a:prstGeom>
          <a:solidFill>
            <a:srgbClr val="2659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281928" y="1353312"/>
            <a:ext cx="48920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Aptos"/>
              </a:rPr>
              <a:t>Balance-law form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36792" y="1728216"/>
            <a:ext cx="4782312" cy="1508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>
                <a:solidFill>
                  <a:srgbClr val="1E1E1E"/>
                </a:solidFill>
                <a:latin typeface="Cambria Math"/>
              </a:rPr>
              <a:t>∂C/∂t + ∇ · J = 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3520440"/>
            <a:ext cx="5074920" cy="1920240"/>
          </a:xfrm>
          <a:prstGeom prst="roundRect">
            <a:avLst/>
          </a:prstGeom>
          <a:solidFill>
            <a:srgbClr val="F5F7FA"/>
          </a:solidFill>
          <a:ln w="15875">
            <a:solidFill>
              <a:srgbClr val="2659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172200" y="3520440"/>
            <a:ext cx="5074920" cy="310896"/>
          </a:xfrm>
          <a:prstGeom prst="rect">
            <a:avLst/>
          </a:prstGeom>
          <a:solidFill>
            <a:srgbClr val="2659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281928" y="3547872"/>
            <a:ext cx="48920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Aptos"/>
              </a:rPr>
              <a:t>With Fick transport and first-order annealing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36792" y="3922776"/>
            <a:ext cx="4782312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>
                <a:solidFill>
                  <a:srgbClr val="1E1E1E"/>
                </a:solidFill>
                <a:latin typeface="Cambria Math"/>
              </a:rPr>
              <a:t>J = − D ∇C</a:t>
            </a:r>
          </a:p>
          <a:p>
            <a:pPr algn="ctr"/>
            <a:r>
              <a:rPr sz="2000">
                <a:solidFill>
                  <a:srgbClr val="1E1E1E"/>
                </a:solidFill>
                <a:latin typeface="Cambria Math"/>
              </a:rPr>
              <a:t>∂C/∂t = ∇ · ( D ∇C ) − k C + 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5897880"/>
            <a:ext cx="11109960" cy="457200"/>
          </a:xfrm>
          <a:prstGeom prst="roundRect">
            <a:avLst/>
          </a:prstGeom>
          <a:solidFill>
            <a:srgbClr val="F5F7FA"/>
          </a:solidFill>
          <a:ln w="16510">
            <a:solidFill>
              <a:srgbClr val="2C78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58368" y="5980176"/>
            <a:ext cx="10881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E1E1E"/>
                </a:solidFill>
                <a:latin typeface="Aptos"/>
              </a:rPr>
              <a:t>Key point: Module 3 is the engine that turns initial damage into a time-evolving defect landscape.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6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11556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Aptos Display"/>
              </a:rPr>
              <a:t>Module 3: timescales and Arrhenius physics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5A626C"/>
                </a:solidFill>
                <a:latin typeface="Aptos"/>
              </a:rPr>
              <a:t>How to think physically about diffusion versus annealing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67160" y="6400800"/>
            <a:ext cx="365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5A626C"/>
                </a:solidFill>
              </a:rPr>
              <a:t>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097280"/>
            <a:ext cx="5440680" cy="347472"/>
          </a:xfrm>
          <a:prstGeom prst="roundRect">
            <a:avLst/>
          </a:prstGeom>
          <a:solidFill>
            <a:srgbClr val="F5F7FA"/>
          </a:solidFill>
          <a:ln>
            <a:solidFill>
              <a:srgbClr val="2659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12648" y="1143000"/>
            <a:ext cx="5212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63A5F"/>
                </a:solidFill>
                <a:latin typeface="Aptos"/>
              </a:rPr>
              <a:t>Characteristic timescales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097280"/>
            <a:ext cx="5440680" cy="347472"/>
          </a:xfrm>
          <a:prstGeom prst="roundRect">
            <a:avLst/>
          </a:prstGeom>
          <a:solidFill>
            <a:srgbClr val="F5F7FA"/>
          </a:solidFill>
          <a:ln>
            <a:solidFill>
              <a:srgbClr val="2659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281928" y="1143000"/>
            <a:ext cx="5212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63A5F"/>
                </a:solidFill>
                <a:latin typeface="Aptos"/>
              </a:rPr>
              <a:t>Thermal activation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554480"/>
            <a:ext cx="5303520" cy="429768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>
              <a:spcAft>
                <a:spcPts val="600"/>
              </a:spcAft>
              <a:defRPr sz="2000">
                <a:solidFill>
                  <a:srgbClr val="1E1E1E"/>
                </a:solidFill>
                <a:latin typeface="Aptos"/>
              </a:defRPr>
            </a:pPr>
            <a:r>
              <a:t>Diffusion timescale: τ_D ~ L² / D.</a:t>
            </a:r>
          </a:p>
          <a:p>
            <a:pPr>
              <a:spcAft>
                <a:spcPts val="600"/>
              </a:spcAft>
              <a:defRPr sz="2000">
                <a:solidFill>
                  <a:srgbClr val="1E1E1E"/>
                </a:solidFill>
                <a:latin typeface="Aptos"/>
              </a:defRPr>
            </a:pPr>
            <a:r>
              <a:t>Annealing timescale: τ_A ~ 1 / k.</a:t>
            </a:r>
          </a:p>
          <a:p>
            <a:pPr>
              <a:spcAft>
                <a:spcPts val="600"/>
              </a:spcAft>
              <a:defRPr sz="2000">
                <a:solidFill>
                  <a:srgbClr val="1E1E1E"/>
                </a:solidFill>
                <a:latin typeface="Aptos"/>
              </a:defRPr>
            </a:pPr>
            <a:r>
              <a:t>If τ_D &lt;&lt; τ_A, defects spread before they disappear.</a:t>
            </a:r>
          </a:p>
          <a:p>
            <a:pPr>
              <a:spcAft>
                <a:spcPts val="600"/>
              </a:spcAft>
              <a:defRPr sz="2000">
                <a:solidFill>
                  <a:srgbClr val="1E1E1E"/>
                </a:solidFill>
                <a:latin typeface="Aptos"/>
              </a:defRPr>
            </a:pPr>
            <a:r>
              <a:t>If τ_A &lt;&lt; τ_D, defects anneal locally before much migration occurs.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1600200"/>
            <a:ext cx="4892040" cy="1828800"/>
          </a:xfrm>
          <a:prstGeom prst="roundRect">
            <a:avLst/>
          </a:prstGeom>
          <a:solidFill>
            <a:srgbClr val="EAF3F8"/>
          </a:solidFill>
          <a:ln w="15875">
            <a:solidFill>
              <a:srgbClr val="2659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355080" y="1600200"/>
            <a:ext cx="4892040" cy="310896"/>
          </a:xfrm>
          <a:prstGeom prst="rect">
            <a:avLst/>
          </a:prstGeom>
          <a:solidFill>
            <a:srgbClr val="2659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64808" y="1627632"/>
            <a:ext cx="4709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Aptos"/>
              </a:rPr>
              <a:t>Arrhenius reduced coefficients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19672" y="2002536"/>
            <a:ext cx="4599432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>
                <a:solidFill>
                  <a:srgbClr val="1E1E1E"/>
                </a:solidFill>
                <a:latin typeface="Cambria Math"/>
              </a:rPr>
              <a:t>D(T) = D_0 exp( − E_D / k_B T )</a:t>
            </a:r>
          </a:p>
          <a:p>
            <a:pPr algn="ctr"/>
            <a:r>
              <a:rPr sz="2000">
                <a:solidFill>
                  <a:srgbClr val="1E1E1E"/>
                </a:solidFill>
                <a:latin typeface="Cambria Math"/>
              </a:rPr>
              <a:t>k(T) = k_0 exp( − E_A / k_B T 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3657600"/>
            <a:ext cx="4754880" cy="192024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1E1E1E"/>
                </a:solidFill>
                <a:latin typeface="Aptos"/>
              </a:defRPr>
            </a:pPr>
            <a:r>
              <a:t>The exponential appears because migration and annealing must overcome activation barriers.</a:t>
            </a:r>
          </a:p>
          <a:p>
            <a:pPr>
              <a:spcAft>
                <a:spcPts val="600"/>
              </a:spcAft>
              <a:defRPr sz="1700">
                <a:solidFill>
                  <a:srgbClr val="1E1E1E"/>
                </a:solidFill>
                <a:latin typeface="Aptos"/>
              </a:defRPr>
            </a:pPr>
            <a:r>
              <a:t>In the current reduced model, these are effective coefficients that compress richer microscopic physics into executable continuum parameters.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5897880"/>
            <a:ext cx="11109960" cy="457200"/>
          </a:xfrm>
          <a:prstGeom prst="roundRect">
            <a:avLst/>
          </a:prstGeom>
          <a:solidFill>
            <a:srgbClr val="F5F7FA"/>
          </a:solidFill>
          <a:ln w="16510">
            <a:solidFill>
              <a:srgbClr val="2C78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58368" y="5980176"/>
            <a:ext cx="10881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E1E1E"/>
                </a:solidFill>
                <a:latin typeface="Aptos"/>
              </a:rPr>
              <a:t>Key point: Temperature changes the kinetics exponentially, so thermal physics strongly feeds back on defect evolution.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6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11556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Aptos Display"/>
              </a:rPr>
              <a:t>Module 3: what is implemented now, and how it is checked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5A626C"/>
                </a:solidFill>
                <a:latin typeface="Aptos"/>
              </a:rPr>
              <a:t>From the physics note to the current MATLAB solver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67160" y="6400800"/>
            <a:ext cx="365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5A626C"/>
                </a:solidFill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371600"/>
            <a:ext cx="5486400" cy="443484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>
              <a:spcAft>
                <a:spcPts val="600"/>
              </a:spcAft>
              <a:defRPr sz="1900">
                <a:solidFill>
                  <a:srgbClr val="1E1E1E"/>
                </a:solidFill>
                <a:latin typeface="Aptos"/>
              </a:defRPr>
            </a:pPr>
            <a:r>
              <a:t>The current implementation uses a 2D diffusion-reaction solver with material-aware reduced kinetic coefficients.</a:t>
            </a:r>
          </a:p>
          <a:p>
            <a:pPr>
              <a:spcAft>
                <a:spcPts val="600"/>
              </a:spcAft>
              <a:defRPr sz="1900">
                <a:solidFill>
                  <a:srgbClr val="1E1E1E"/>
                </a:solidFill>
                <a:latin typeface="Aptos"/>
              </a:defRPr>
            </a:pPr>
            <a:r>
              <a:t>The coefficient hierarchy allows dependence on temperature, charge state, dopants, and electric field, while keeping the first implementation numerically manageable.</a:t>
            </a:r>
          </a:p>
          <a:p>
            <a:pPr>
              <a:spcAft>
                <a:spcPts val="600"/>
              </a:spcAft>
              <a:defRPr sz="1900">
                <a:solidFill>
                  <a:srgbClr val="1E1E1E"/>
                </a:solidFill>
                <a:latin typeface="Aptos"/>
              </a:defRPr>
            </a:pPr>
            <a:r>
              <a:t>Geant4 damage maps can be imported as initial defect fields or source terms.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1371600"/>
            <a:ext cx="4983480" cy="443484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>
              <a:spcAft>
                <a:spcPts val="600"/>
              </a:spcAft>
              <a:defRPr sz="1900">
                <a:solidFill>
                  <a:srgbClr val="1E1E1E"/>
                </a:solidFill>
                <a:latin typeface="Aptos"/>
              </a:defRPr>
            </a:pPr>
            <a:r>
              <a:t>Verification logic from the note:</a:t>
            </a:r>
          </a:p>
          <a:p>
            <a:pPr lvl="1">
              <a:spcAft>
                <a:spcPts val="200"/>
              </a:spcAft>
              <a:defRPr sz="1700">
                <a:solidFill>
                  <a:srgbClr val="1E1E1E"/>
                </a:solidFill>
                <a:latin typeface="Aptos"/>
              </a:defRPr>
            </a:pPr>
            <a:r>
              <a:t>pure annealing with no diffusion</a:t>
            </a:r>
          </a:p>
          <a:p>
            <a:pPr lvl="1">
              <a:spcAft>
                <a:spcPts val="200"/>
              </a:spcAft>
              <a:defRPr sz="1700">
                <a:solidFill>
                  <a:srgbClr val="1E1E1E"/>
                </a:solidFill>
                <a:latin typeface="Aptos"/>
              </a:defRPr>
            </a:pPr>
            <a:r>
              <a:t>pure diffusion with no reaction</a:t>
            </a:r>
          </a:p>
          <a:p>
            <a:pPr lvl="1">
              <a:spcAft>
                <a:spcPts val="200"/>
              </a:spcAft>
              <a:defRPr sz="1700">
                <a:solidFill>
                  <a:srgbClr val="1E1E1E"/>
                </a:solidFill>
                <a:latin typeface="Aptos"/>
              </a:defRPr>
            </a:pPr>
            <a:r>
              <a:t>uniform-state preservation</a:t>
            </a:r>
          </a:p>
          <a:p>
            <a:pPr>
              <a:spcAft>
                <a:spcPts val="600"/>
              </a:spcAft>
              <a:defRPr sz="1900">
                <a:solidFill>
                  <a:srgbClr val="1E1E1E"/>
                </a:solidFill>
                <a:latin typeface="Aptos"/>
              </a:defRPr>
            </a:pPr>
            <a:r>
              <a:t>These checks verify conservation structure, kinetics, and the numerical diffusion operator separately.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5897880"/>
            <a:ext cx="11109960" cy="457200"/>
          </a:xfrm>
          <a:prstGeom prst="roundRect">
            <a:avLst/>
          </a:prstGeom>
          <a:solidFill>
            <a:srgbClr val="F5F7FA"/>
          </a:solidFill>
          <a:ln w="16510">
            <a:solidFill>
              <a:srgbClr val="2C78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58368" y="5980176"/>
            <a:ext cx="10881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E1E1E"/>
                </a:solidFill>
                <a:latin typeface="Aptos"/>
              </a:rPr>
              <a:t>Key point: Module 3 is already the clearest bridge from Geant4 outputs to later electrical and thermal consequences.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6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11556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Aptos Display"/>
              </a:rPr>
              <a:t>Module 4a: continuum thermal transport from energy conservation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5A626C"/>
                </a:solidFill>
                <a:latin typeface="Aptos"/>
              </a:rPr>
              <a:t>Physics note summary: internal-energy balance + Fourier law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67160" y="6400800"/>
            <a:ext cx="365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5A626C"/>
                </a:solidFill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325880"/>
            <a:ext cx="5303520" cy="452628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>
              <a:spcAft>
                <a:spcPts val="600"/>
              </a:spcAft>
              <a:defRPr sz="2000">
                <a:solidFill>
                  <a:srgbClr val="1E1E1E"/>
                </a:solidFill>
                <a:latin typeface="Aptos"/>
              </a:defRPr>
            </a:pPr>
            <a:r>
              <a:t>Temperature is introduced through local conservation of energy in a material element.</a:t>
            </a:r>
          </a:p>
          <a:p>
            <a:pPr>
              <a:spcAft>
                <a:spcPts val="600"/>
              </a:spcAft>
              <a:defRPr sz="2000">
                <a:solidFill>
                  <a:srgbClr val="1E1E1E"/>
                </a:solidFill>
                <a:latin typeface="Aptos"/>
              </a:defRPr>
            </a:pPr>
            <a:r>
              <a:t>The internal-energy change is driven by heat-flux divergence and local volumetric sources.</a:t>
            </a:r>
          </a:p>
          <a:p>
            <a:pPr>
              <a:spcAft>
                <a:spcPts val="600"/>
              </a:spcAft>
              <a:defRPr sz="2000">
                <a:solidFill>
                  <a:srgbClr val="1E1E1E"/>
                </a:solidFill>
                <a:latin typeface="Aptos"/>
              </a:defRPr>
            </a:pPr>
            <a:r>
              <a:t>Fourier's law closes the problem by relating heat flux to the temperature gradient.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1280160"/>
            <a:ext cx="5074920" cy="1965960"/>
          </a:xfrm>
          <a:prstGeom prst="roundRect">
            <a:avLst/>
          </a:prstGeom>
          <a:solidFill>
            <a:srgbClr val="EAF3F8"/>
          </a:solidFill>
          <a:ln w="15875">
            <a:solidFill>
              <a:srgbClr val="2659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172200" y="1280160"/>
            <a:ext cx="5074920" cy="310896"/>
          </a:xfrm>
          <a:prstGeom prst="rect">
            <a:avLst/>
          </a:prstGeom>
          <a:solidFill>
            <a:srgbClr val="2659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281928" y="1307592"/>
            <a:ext cx="48920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Aptos"/>
              </a:rPr>
              <a:t>Energy conservation + constitutive law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36792" y="1682496"/>
            <a:ext cx="4782312" cy="1508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>
                <a:solidFill>
                  <a:srgbClr val="1E1E1E"/>
                </a:solidFill>
                <a:latin typeface="Cambria Math"/>
              </a:rPr>
              <a:t>ρ c_p ∂T/∂t = − ∇ · q + Q</a:t>
            </a:r>
          </a:p>
          <a:p>
            <a:pPr algn="ctr"/>
            <a:r>
              <a:rPr sz="2000">
                <a:solidFill>
                  <a:srgbClr val="1E1E1E"/>
                </a:solidFill>
                <a:latin typeface="Cambria Math"/>
              </a:rPr>
              <a:t>q = − k ∇T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3520440"/>
            <a:ext cx="5074920" cy="1874519"/>
          </a:xfrm>
          <a:prstGeom prst="roundRect">
            <a:avLst/>
          </a:prstGeom>
          <a:solidFill>
            <a:srgbClr val="F5F7FA"/>
          </a:solidFill>
          <a:ln w="15875">
            <a:solidFill>
              <a:srgbClr val="2659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172200" y="3520440"/>
            <a:ext cx="5074920" cy="310896"/>
          </a:xfrm>
          <a:prstGeom prst="rect">
            <a:avLst/>
          </a:prstGeom>
          <a:solidFill>
            <a:srgbClr val="2659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281928" y="3547872"/>
            <a:ext cx="48920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Aptos"/>
              </a:rPr>
              <a:t>Transient heat equation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36792" y="3922776"/>
            <a:ext cx="4782312" cy="14173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>
                <a:solidFill>
                  <a:srgbClr val="1E1E1E"/>
                </a:solidFill>
                <a:latin typeface="Cambria Math"/>
              </a:rPr>
              <a:t>ρ c_p ∂T/∂t = ∇ · ( k ∇T ) + Q</a:t>
            </a:r>
          </a:p>
          <a:p>
            <a:pPr algn="ctr"/>
            <a:r>
              <a:rPr sz="2000">
                <a:solidFill>
                  <a:srgbClr val="1E1E1E"/>
                </a:solidFill>
                <a:latin typeface="Cambria Math"/>
              </a:rPr>
              <a:t>or  ∂T/∂t = α ∇²T + Q/(ρ c_p)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5897880"/>
            <a:ext cx="11109960" cy="457200"/>
          </a:xfrm>
          <a:prstGeom prst="roundRect">
            <a:avLst/>
          </a:prstGeom>
          <a:solidFill>
            <a:srgbClr val="F5F7FA"/>
          </a:solidFill>
          <a:ln w="16510">
            <a:solidFill>
              <a:srgbClr val="2C78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58368" y="5980176"/>
            <a:ext cx="10881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E1E1E"/>
                </a:solidFill>
                <a:latin typeface="Aptos"/>
              </a:rPr>
              <a:t>Key point: Module 4a supplies the baseline temperature field that later updates defect and transport coefficients.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6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11556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Aptos Display"/>
              </a:rPr>
              <a:t>Module 4a: physical interpretation of the heat equation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5A626C"/>
                </a:solidFill>
                <a:latin typeface="Aptos"/>
              </a:rPr>
              <a:t>What each term means for radiation-damaged silicon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67160" y="6400800"/>
            <a:ext cx="365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5A626C"/>
                </a:solidFill>
              </a:rPr>
              <a:t>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097280"/>
            <a:ext cx="5440680" cy="347472"/>
          </a:xfrm>
          <a:prstGeom prst="roundRect">
            <a:avLst/>
          </a:prstGeom>
          <a:solidFill>
            <a:srgbClr val="F5F7FA"/>
          </a:solidFill>
          <a:ln>
            <a:solidFill>
              <a:srgbClr val="2659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12648" y="1143000"/>
            <a:ext cx="5212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63A5F"/>
                </a:solidFill>
                <a:latin typeface="Aptos"/>
              </a:rPr>
              <a:t>What can act as a heat source?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097280"/>
            <a:ext cx="5440680" cy="347472"/>
          </a:xfrm>
          <a:prstGeom prst="roundRect">
            <a:avLst/>
          </a:prstGeom>
          <a:solidFill>
            <a:srgbClr val="F5F7FA"/>
          </a:solidFill>
          <a:ln>
            <a:solidFill>
              <a:srgbClr val="2659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281928" y="1143000"/>
            <a:ext cx="5212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63A5F"/>
                </a:solidFill>
                <a:latin typeface="Aptos"/>
              </a:rPr>
              <a:t>Boundary conditions and scales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1572768"/>
            <a:ext cx="5212080" cy="416052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>
              <a:spcAft>
                <a:spcPts val="600"/>
              </a:spcAft>
              <a:defRPr sz="2000">
                <a:solidFill>
                  <a:srgbClr val="1E1E1E"/>
                </a:solidFill>
                <a:latin typeface="Aptos"/>
              </a:defRPr>
            </a:pPr>
            <a:r>
              <a:t>Deposited radiation energy can appear as an initial or transient source.</a:t>
            </a:r>
          </a:p>
          <a:p>
            <a:pPr>
              <a:spcAft>
                <a:spcPts val="600"/>
              </a:spcAft>
              <a:defRPr sz="2000">
                <a:solidFill>
                  <a:srgbClr val="1E1E1E"/>
                </a:solidFill>
                <a:latin typeface="Aptos"/>
              </a:defRPr>
            </a:pPr>
            <a:r>
              <a:t>Electrical power dissipation can heat the device during operation.</a:t>
            </a:r>
          </a:p>
          <a:p>
            <a:pPr>
              <a:spcAft>
                <a:spcPts val="600"/>
              </a:spcAft>
              <a:defRPr sz="2000">
                <a:solidFill>
                  <a:srgbClr val="1E1E1E"/>
                </a:solidFill>
                <a:latin typeface="Aptos"/>
              </a:defRPr>
            </a:pPr>
            <a:r>
              <a:t>Defect reactions may also contribute weak heating or cooling terms in later refinements.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1572768"/>
            <a:ext cx="5212080" cy="416052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>
              <a:spcAft>
                <a:spcPts val="600"/>
              </a:spcAft>
              <a:defRPr sz="1900">
                <a:solidFill>
                  <a:srgbClr val="1E1E1E"/>
                </a:solidFill>
                <a:latin typeface="Aptos"/>
              </a:defRPr>
            </a:pPr>
            <a:r>
              <a:t>Dirichlet: fixed temperature boundary.</a:t>
            </a:r>
          </a:p>
          <a:p>
            <a:pPr>
              <a:spcAft>
                <a:spcPts val="600"/>
              </a:spcAft>
              <a:defRPr sz="1900">
                <a:solidFill>
                  <a:srgbClr val="1E1E1E"/>
                </a:solidFill>
                <a:latin typeface="Aptos"/>
              </a:defRPr>
            </a:pPr>
            <a:r>
              <a:t>Neumann: fixed heat flux or adiabatic boundary.</a:t>
            </a:r>
          </a:p>
          <a:p>
            <a:pPr>
              <a:spcAft>
                <a:spcPts val="600"/>
              </a:spcAft>
              <a:defRPr sz="1900">
                <a:solidFill>
                  <a:srgbClr val="1E1E1E"/>
                </a:solidFill>
                <a:latin typeface="Aptos"/>
              </a:defRPr>
            </a:pPr>
            <a:r>
              <a:t>Robin: convective or interfacial thermal exchange.</a:t>
            </a:r>
          </a:p>
          <a:p>
            <a:pPr>
              <a:spcAft>
                <a:spcPts val="600"/>
              </a:spcAft>
              <a:defRPr sz="1900">
                <a:solidFill>
                  <a:srgbClr val="1E1E1E"/>
                </a:solidFill>
                <a:latin typeface="Aptos"/>
              </a:defRPr>
            </a:pPr>
            <a:r>
              <a:t>The thermal diffusion timescale is τ_th ~ L² / α, which determines how fast a local hot spot spreads.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5897880"/>
            <a:ext cx="11109960" cy="457200"/>
          </a:xfrm>
          <a:prstGeom prst="roundRect">
            <a:avLst/>
          </a:prstGeom>
          <a:solidFill>
            <a:srgbClr val="F5F7FA"/>
          </a:solidFill>
          <a:ln w="16510">
            <a:solidFill>
              <a:srgbClr val="2C78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58368" y="5980176"/>
            <a:ext cx="10881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E1E1E"/>
                </a:solidFill>
                <a:latin typeface="Aptos"/>
              </a:rPr>
              <a:t>Key point: Module 4a is the first thermal baseline because it is simple, physically interpretable, and fast to verify.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6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11556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Aptos Display"/>
              </a:rPr>
              <a:t>Module 4a: coupling back into defect physics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5A626C"/>
                </a:solidFill>
                <a:latin typeface="Aptos"/>
              </a:rPr>
              <a:t>How the temperature field enters Module 3 and why verification is straightforward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67160" y="6400800"/>
            <a:ext cx="365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5A626C"/>
                </a:solidFill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25880"/>
            <a:ext cx="5394960" cy="457200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>
              <a:spcAft>
                <a:spcPts val="600"/>
              </a:spcAft>
              <a:defRPr sz="1900">
                <a:solidFill>
                  <a:srgbClr val="1E1E1E"/>
                </a:solidFill>
                <a:latin typeface="Aptos"/>
              </a:defRPr>
            </a:pPr>
            <a:r>
              <a:t>The main role of Module 4a is not just to predict T(x,y,t), but to update temperature-dependent coefficients elsewhere.</a:t>
            </a:r>
          </a:p>
          <a:p>
            <a:pPr>
              <a:spcAft>
                <a:spcPts val="600"/>
              </a:spcAft>
              <a:defRPr sz="1900">
                <a:solidFill>
                  <a:srgbClr val="1E1E1E"/>
                </a:solidFill>
                <a:latin typeface="Aptos"/>
              </a:defRPr>
            </a:pPr>
            <a:r>
              <a:t>In Module 3, both the defect diffusivity D(T) and annealing rate k(T) can be updated from the thermal field.</a:t>
            </a:r>
          </a:p>
          <a:p>
            <a:pPr>
              <a:spcAft>
                <a:spcPts val="600"/>
              </a:spcAft>
              <a:defRPr sz="1900">
                <a:solidFill>
                  <a:srgbClr val="1E1E1E"/>
                </a:solidFill>
                <a:latin typeface="Aptos"/>
              </a:defRPr>
            </a:pPr>
            <a:r>
              <a:t>Later, temperature can also enter mobility, recombination, and carrier statistics in Module 5.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1417320"/>
            <a:ext cx="5029200" cy="1783080"/>
          </a:xfrm>
          <a:prstGeom prst="roundRect">
            <a:avLst/>
          </a:prstGeom>
          <a:solidFill>
            <a:srgbClr val="EAF3F8"/>
          </a:solidFill>
          <a:ln w="15875">
            <a:solidFill>
              <a:srgbClr val="2659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172200" y="1417320"/>
            <a:ext cx="5029200" cy="310896"/>
          </a:xfrm>
          <a:prstGeom prst="rect">
            <a:avLst/>
          </a:prstGeom>
          <a:solidFill>
            <a:srgbClr val="2659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281928" y="1444752"/>
            <a:ext cx="48463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Aptos"/>
              </a:rPr>
              <a:t>Thermal-to-defect coupling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36792" y="1819656"/>
            <a:ext cx="4736592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>
                <a:solidFill>
                  <a:srgbClr val="1E1E1E"/>
                </a:solidFill>
                <a:latin typeface="Cambria Math"/>
              </a:rPr>
              <a:t>D = D(T)</a:t>
            </a:r>
          </a:p>
          <a:p>
            <a:pPr algn="ctr"/>
            <a:r>
              <a:rPr sz="2000">
                <a:solidFill>
                  <a:srgbClr val="1E1E1E"/>
                </a:solidFill>
                <a:latin typeface="Cambria Math"/>
              </a:rPr>
              <a:t>k = k(T)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3566160"/>
            <a:ext cx="4754880" cy="214884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1E1E1E"/>
                </a:solidFill>
                <a:latin typeface="Aptos"/>
              </a:defRPr>
            </a:pPr>
            <a:r>
              <a:t>Verification cases in the note:</a:t>
            </a:r>
          </a:p>
          <a:p>
            <a:pPr lvl="1">
              <a:spcAft>
                <a:spcPts val="200"/>
              </a:spcAft>
              <a:defRPr sz="1700">
                <a:solidFill>
                  <a:srgbClr val="1E1E1E"/>
                </a:solidFill>
                <a:latin typeface="Aptos"/>
              </a:defRPr>
            </a:pPr>
            <a:r>
              <a:t>uniform equilibrium</a:t>
            </a:r>
          </a:p>
          <a:p>
            <a:pPr lvl="1">
              <a:spcAft>
                <a:spcPts val="200"/>
              </a:spcAft>
              <a:defRPr sz="1700">
                <a:solidFill>
                  <a:srgbClr val="1E1E1E"/>
                </a:solidFill>
                <a:latin typeface="Aptos"/>
              </a:defRPr>
            </a:pPr>
            <a:r>
              <a:t>localized hot-spot diffusion</a:t>
            </a:r>
          </a:p>
          <a:p>
            <a:pPr lvl="1">
              <a:spcAft>
                <a:spcPts val="200"/>
              </a:spcAft>
              <a:defRPr sz="1700">
                <a:solidFill>
                  <a:srgbClr val="1E1E1E"/>
                </a:solidFill>
                <a:latin typeface="Aptos"/>
              </a:defRPr>
            </a:pPr>
            <a:r>
              <a:t>driven steady-source case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5897880"/>
            <a:ext cx="11109960" cy="457200"/>
          </a:xfrm>
          <a:prstGeom prst="roundRect">
            <a:avLst/>
          </a:prstGeom>
          <a:solidFill>
            <a:srgbClr val="F5F7FA"/>
          </a:solidFill>
          <a:ln w="16510">
            <a:solidFill>
              <a:srgbClr val="2C78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58368" y="5980176"/>
            <a:ext cx="10881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E1E1E"/>
                </a:solidFill>
                <a:latin typeface="Aptos"/>
              </a:rPr>
              <a:t>Key point: Without Module 4a, defect evolution is missing one of its strongest physical control knobs.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6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11556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Aptos Display"/>
              </a:rPr>
              <a:t>Module 4b: why a plain continuum thermal model can become insufficient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5A626C"/>
                </a:solidFill>
                <a:latin typeface="Aptos"/>
              </a:rPr>
              <a:t>Physics note summary: in crystalline silicon, heat is carried by phonons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67160" y="6400800"/>
            <a:ext cx="365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5A626C"/>
                </a:solidFill>
              </a:rP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25880"/>
            <a:ext cx="5394960" cy="457200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>
              <a:spcAft>
                <a:spcPts val="600"/>
              </a:spcAft>
              <a:defRPr sz="1900">
                <a:solidFill>
                  <a:srgbClr val="1E1E1E"/>
                </a:solidFill>
                <a:latin typeface="Aptos"/>
              </a:defRPr>
            </a:pPr>
            <a:r>
              <a:t>Fourier's law assumes a local constitutive relation with an effective bulk conductivity.</a:t>
            </a:r>
          </a:p>
          <a:p>
            <a:pPr>
              <a:spcAft>
                <a:spcPts val="600"/>
              </a:spcAft>
              <a:defRPr sz="1900">
                <a:solidFill>
                  <a:srgbClr val="1E1E1E"/>
                </a:solidFill>
                <a:latin typeface="Aptos"/>
              </a:defRPr>
            </a:pPr>
            <a:r>
              <a:t>That can break down when defect scattering, boundary scattering, size effects, or nonequilibrium phonon transport become important.</a:t>
            </a:r>
          </a:p>
          <a:p>
            <a:pPr>
              <a:spcAft>
                <a:spcPts val="600"/>
              </a:spcAft>
              <a:defRPr sz="1900">
                <a:solidFill>
                  <a:srgbClr val="1E1E1E"/>
                </a:solidFill>
                <a:latin typeface="Aptos"/>
              </a:defRPr>
            </a:pPr>
            <a:r>
              <a:t>In silicon, the natural microscopic heat carriers are phonons, so a richer model should talk about phonon distributions and scattering.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1417320"/>
            <a:ext cx="4983480" cy="1965960"/>
          </a:xfrm>
          <a:prstGeom prst="roundRect">
            <a:avLst/>
          </a:prstGeom>
          <a:solidFill>
            <a:srgbClr val="EAF3F8"/>
          </a:solidFill>
          <a:ln w="15875">
            <a:solidFill>
              <a:srgbClr val="2659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172200" y="1417320"/>
            <a:ext cx="4983480" cy="310896"/>
          </a:xfrm>
          <a:prstGeom prst="rect">
            <a:avLst/>
          </a:prstGeom>
          <a:solidFill>
            <a:srgbClr val="2659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281928" y="1444752"/>
            <a:ext cx="4800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Aptos"/>
              </a:rPr>
              <a:t>Microscopic starting point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36792" y="1819656"/>
            <a:ext cx="4690872" cy="1508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>
                <a:solidFill>
                  <a:srgbClr val="1E1E1E"/>
                </a:solidFill>
                <a:latin typeface="Cambria Math"/>
              </a:rPr>
              <a:t>∂f/∂t + v_g · ∇_r f = ( ∂f/∂t )_coll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3749039"/>
            <a:ext cx="4663440" cy="182880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1E1E1E"/>
                </a:solidFill>
                <a:latin typeface="Aptos"/>
              </a:defRPr>
            </a:pPr>
            <a:r>
              <a:t>Here f is the phonon distribution function and the collision term encodes scattering.</a:t>
            </a:r>
          </a:p>
          <a:p>
            <a:pPr>
              <a:spcAft>
                <a:spcPts val="600"/>
              </a:spcAft>
              <a:defRPr sz="1700">
                <a:solidFill>
                  <a:srgbClr val="1E1E1E"/>
                </a:solidFill>
                <a:latin typeface="Aptos"/>
              </a:defRPr>
            </a:pPr>
            <a:r>
              <a:t>Module 4b keeps this microscopic logic while still aiming for a reduced executable PDE.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5897880"/>
            <a:ext cx="11109960" cy="457200"/>
          </a:xfrm>
          <a:prstGeom prst="roundRect">
            <a:avLst/>
          </a:prstGeom>
          <a:solidFill>
            <a:srgbClr val="F5F7FA"/>
          </a:solidFill>
          <a:ln w="16510">
            <a:solidFill>
              <a:srgbClr val="2C78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58368" y="5980176"/>
            <a:ext cx="10881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E1E1E"/>
                </a:solidFill>
                <a:latin typeface="Aptos"/>
              </a:rPr>
              <a:t>Key point: Module 4b exists to capture physics that a single bulk conductivity k cannot.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6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11556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Aptos Display"/>
              </a:rPr>
              <a:t>Module 4b: reduced phonon-aware thermal transport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5A626C"/>
                </a:solidFill>
                <a:latin typeface="Aptos"/>
              </a:rPr>
              <a:t>From phonon scattering logic to a defect-dependent conductivity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67160" y="6400800"/>
            <a:ext cx="365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5A626C"/>
                </a:solidFill>
              </a:rPr>
              <a:t>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25880"/>
            <a:ext cx="5212080" cy="457200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>
              <a:spcAft>
                <a:spcPts val="600"/>
              </a:spcAft>
              <a:defRPr sz="1900">
                <a:solidFill>
                  <a:srgbClr val="1E1E1E"/>
                </a:solidFill>
                <a:latin typeface="Aptos"/>
              </a:defRPr>
            </a:pPr>
            <a:r>
              <a:t>A practical reduced model is to let the conductivity depend on defect concentration, temperature, or both.</a:t>
            </a:r>
          </a:p>
          <a:p>
            <a:pPr>
              <a:spcAft>
                <a:spcPts val="600"/>
              </a:spcAft>
              <a:defRPr sz="1900">
                <a:solidFill>
                  <a:srgbClr val="1E1E1E"/>
                </a:solidFill>
                <a:latin typeface="Aptos"/>
              </a:defRPr>
            </a:pPr>
            <a:r>
              <a:t>This is motivated by phonon-defect scattering: more defects shorten the phonon mean free path and reduce thermal conductivity.</a:t>
            </a:r>
          </a:p>
          <a:p>
            <a:pPr>
              <a:spcAft>
                <a:spcPts val="600"/>
              </a:spcAft>
              <a:defRPr sz="1900">
                <a:solidFill>
                  <a:srgbClr val="1E1E1E"/>
                </a:solidFill>
                <a:latin typeface="Aptos"/>
              </a:defRPr>
            </a:pPr>
            <a:r>
              <a:t>The PDE can still resemble the heat equation, but the physics inside k is richer.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325880"/>
            <a:ext cx="5074920" cy="1645920"/>
          </a:xfrm>
          <a:prstGeom prst="roundRect">
            <a:avLst/>
          </a:prstGeom>
          <a:solidFill>
            <a:srgbClr val="EAF3F8"/>
          </a:solidFill>
          <a:ln w="15875">
            <a:solidFill>
              <a:srgbClr val="2659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126480" y="1325880"/>
            <a:ext cx="5074920" cy="310896"/>
          </a:xfrm>
          <a:prstGeom prst="rect">
            <a:avLst/>
          </a:prstGeom>
          <a:solidFill>
            <a:srgbClr val="2659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236208" y="1353312"/>
            <a:ext cx="48920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Aptos"/>
              </a:rPr>
              <a:t>Defect-aware conductivity idea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91072" y="1728216"/>
            <a:ext cx="4782312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>
                <a:solidFill>
                  <a:srgbClr val="1E1E1E"/>
                </a:solidFill>
                <a:latin typeface="Cambria Math"/>
              </a:rPr>
              <a:t>k = k(T, C_d, ... 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3246120"/>
            <a:ext cx="5074920" cy="2057400"/>
          </a:xfrm>
          <a:prstGeom prst="roundRect">
            <a:avLst/>
          </a:prstGeom>
          <a:solidFill>
            <a:srgbClr val="F5F7FA"/>
          </a:solidFill>
          <a:ln w="15875">
            <a:solidFill>
              <a:srgbClr val="2659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126480" y="3246120"/>
            <a:ext cx="5074920" cy="310896"/>
          </a:xfrm>
          <a:prstGeom prst="rect">
            <a:avLst/>
          </a:prstGeom>
          <a:solidFill>
            <a:srgbClr val="2659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236208" y="3273552"/>
            <a:ext cx="48920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Aptos"/>
              </a:rPr>
              <a:t>Module 4b governing form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91072" y="3648456"/>
            <a:ext cx="4782312" cy="1600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>
                <a:solidFill>
                  <a:srgbClr val="1E1E1E"/>
                </a:solidFill>
                <a:latin typeface="Cambria Math"/>
              </a:rPr>
              <a:t>ρ c_p ∂T/∂t = ∇ · [ k(T, C_d, ...) ∇T ] + Q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5897880"/>
            <a:ext cx="11109960" cy="457200"/>
          </a:xfrm>
          <a:prstGeom prst="roundRect">
            <a:avLst/>
          </a:prstGeom>
          <a:solidFill>
            <a:srgbClr val="F5F7FA"/>
          </a:solidFill>
          <a:ln w="16510">
            <a:solidFill>
              <a:srgbClr val="2C78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58368" y="5980176"/>
            <a:ext cx="10881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E1E1E"/>
                </a:solidFill>
                <a:latin typeface="Aptos"/>
              </a:rPr>
              <a:t>Key point: Module 4b may look mathematically similar to Module 4a, but it is physically different because the conductivity itself becomes part of the damage physics.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6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11556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Aptos Display"/>
              </a:rPr>
              <a:t>Module 4a versus Module 4b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5A626C"/>
                </a:solidFill>
                <a:latin typeface="Aptos"/>
              </a:rPr>
              <a:t>What should be compared, and when should 4b outperform 4a?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67160" y="6400800"/>
            <a:ext cx="365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5A626C"/>
                </a:solidFill>
              </a:rPr>
              <a:t>16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097280"/>
            <a:ext cx="5440680" cy="347472"/>
          </a:xfrm>
          <a:prstGeom prst="roundRect">
            <a:avLst/>
          </a:prstGeom>
          <a:solidFill>
            <a:srgbClr val="F5F7FA"/>
          </a:solidFill>
          <a:ln>
            <a:solidFill>
              <a:srgbClr val="2659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12648" y="1143000"/>
            <a:ext cx="5212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63A5F"/>
                </a:solidFill>
                <a:latin typeface="Aptos"/>
              </a:rPr>
              <a:t>When 4b is expected to matter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097280"/>
            <a:ext cx="5440680" cy="347472"/>
          </a:xfrm>
          <a:prstGeom prst="roundRect">
            <a:avLst/>
          </a:prstGeom>
          <a:solidFill>
            <a:srgbClr val="F5F7FA"/>
          </a:solidFill>
          <a:ln>
            <a:solidFill>
              <a:srgbClr val="2659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281928" y="1143000"/>
            <a:ext cx="5212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63A5F"/>
                </a:solidFill>
                <a:latin typeface="Aptos"/>
              </a:rPr>
              <a:t>Comparison strategy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1572768"/>
            <a:ext cx="5212080" cy="416052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>
              <a:spcAft>
                <a:spcPts val="600"/>
              </a:spcAft>
              <a:defRPr sz="1900">
                <a:solidFill>
                  <a:srgbClr val="1E1E1E"/>
                </a:solidFill>
                <a:latin typeface="Aptos"/>
              </a:defRPr>
            </a:pPr>
            <a:r>
              <a:t>High defect densities that materially change phonon scattering.</a:t>
            </a:r>
          </a:p>
          <a:p>
            <a:pPr>
              <a:spcAft>
                <a:spcPts val="600"/>
              </a:spcAft>
              <a:defRPr sz="1900">
                <a:solidFill>
                  <a:srgbClr val="1E1E1E"/>
                </a:solidFill>
                <a:latin typeface="Aptos"/>
              </a:defRPr>
            </a:pPr>
            <a:r>
              <a:t>Strong local gradients or small geometric features where bulk-like heat flow becomes questionable.</a:t>
            </a:r>
          </a:p>
          <a:p>
            <a:pPr>
              <a:spcAft>
                <a:spcPts val="600"/>
              </a:spcAft>
              <a:defRPr sz="1900">
                <a:solidFill>
                  <a:srgbClr val="1E1E1E"/>
                </a:solidFill>
                <a:latin typeface="Aptos"/>
              </a:defRPr>
            </a:pPr>
            <a:r>
              <a:t>Cases where a constant or weakly varying conductivity fails to reproduce the measured or simulated thermal response.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1572768"/>
            <a:ext cx="5212080" cy="416052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1E1E1E"/>
                </a:solidFill>
                <a:latin typeface="Aptos"/>
              </a:defRPr>
            </a:pPr>
            <a:r>
              <a:t>Compare temperature peaks, lateral spreading rates, relaxation times, and the resulting impact on D(T) and k(T) in Module 3.</a:t>
            </a:r>
          </a:p>
          <a:p>
            <a:pPr>
              <a:spcAft>
                <a:spcPts val="600"/>
              </a:spcAft>
              <a:defRPr sz="1800">
                <a:solidFill>
                  <a:srgbClr val="1E1E1E"/>
                </a:solidFill>
                <a:latin typeface="Aptos"/>
              </a:defRPr>
            </a:pPr>
            <a:r>
              <a:t>The point is not only to compare temperatures, but also to compare downstream defect-evolution consequences.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5897880"/>
            <a:ext cx="11109960" cy="457200"/>
          </a:xfrm>
          <a:prstGeom prst="roundRect">
            <a:avLst/>
          </a:prstGeom>
          <a:solidFill>
            <a:srgbClr val="F5F7FA"/>
          </a:solidFill>
          <a:ln w="16510">
            <a:solidFill>
              <a:srgbClr val="2C78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58368" y="5980176"/>
            <a:ext cx="10881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E1E1E"/>
                </a:solidFill>
                <a:latin typeface="Aptos"/>
              </a:rPr>
              <a:t>Key point: Module 4b is justified only if the richer thermal physics changes the defect and device predictions in a meaningful way.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6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11556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Aptos Display"/>
              </a:rPr>
              <a:t>Module 5: carrier transport under a damaged field and trap landscape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5A626C"/>
                </a:solidFill>
                <a:latin typeface="Aptos"/>
              </a:rPr>
              <a:t>Planned physics summary from the 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67160" y="6400800"/>
            <a:ext cx="365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5A626C"/>
                </a:solidFill>
              </a:rPr>
              <a:t>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261872"/>
            <a:ext cx="5440680" cy="466344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>
              <a:spcAft>
                <a:spcPts val="600"/>
              </a:spcAft>
              <a:defRPr sz="1900">
                <a:solidFill>
                  <a:srgbClr val="1E1E1E"/>
                </a:solidFill>
                <a:latin typeface="Aptos"/>
              </a:defRPr>
            </a:pPr>
            <a:r>
              <a:t>Once the defect state and electrostatic field are known, the next question is device behavior.</a:t>
            </a:r>
          </a:p>
          <a:p>
            <a:pPr>
              <a:spcAft>
                <a:spcPts val="600"/>
              </a:spcAft>
              <a:defRPr sz="1900">
                <a:solidFill>
                  <a:srgbClr val="1E1E1E"/>
                </a:solidFill>
                <a:latin typeface="Aptos"/>
              </a:defRPr>
            </a:pPr>
            <a:r>
              <a:t>Electrons and holes move by drift in the electric field and diffusion down concentration gradients.</a:t>
            </a:r>
          </a:p>
          <a:p>
            <a:pPr>
              <a:spcAft>
                <a:spcPts val="600"/>
              </a:spcAft>
              <a:defRPr sz="1900">
                <a:solidFill>
                  <a:srgbClr val="1E1E1E"/>
                </a:solidFill>
                <a:latin typeface="Aptos"/>
              </a:defRPr>
            </a:pPr>
            <a:r>
              <a:t>Defects also act as traps and recombination centers, so radiation damage affects not only fields but carrier lifetimes and transport pathways.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325880"/>
            <a:ext cx="4892040" cy="1965960"/>
          </a:xfrm>
          <a:prstGeom prst="roundRect">
            <a:avLst/>
          </a:prstGeom>
          <a:solidFill>
            <a:srgbClr val="EAF3F8"/>
          </a:solidFill>
          <a:ln w="15875">
            <a:solidFill>
              <a:srgbClr val="2659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263640" y="1325880"/>
            <a:ext cx="4892040" cy="310896"/>
          </a:xfrm>
          <a:prstGeom prst="rect">
            <a:avLst/>
          </a:prstGeom>
          <a:solidFill>
            <a:srgbClr val="2659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373368" y="1353312"/>
            <a:ext cx="4709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Aptos"/>
              </a:rPr>
              <a:t>Carrier-current picture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28232" y="1728216"/>
            <a:ext cx="4599432" cy="1508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>
                <a:solidFill>
                  <a:srgbClr val="1E1E1E"/>
                </a:solidFill>
                <a:latin typeface="Cambria Math"/>
              </a:rPr>
              <a:t>J_n = q μ_n n E + q D_n ∇n</a:t>
            </a:r>
          </a:p>
          <a:p>
            <a:pPr algn="ctr"/>
            <a:r>
              <a:rPr sz="2000">
                <a:solidFill>
                  <a:srgbClr val="1E1E1E"/>
                </a:solidFill>
                <a:latin typeface="Cambria Math"/>
              </a:rPr>
              <a:t>J_p = q μ_p p E − q D_p ∇p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3611880"/>
            <a:ext cx="4892040" cy="1737360"/>
          </a:xfrm>
          <a:prstGeom prst="roundRect">
            <a:avLst/>
          </a:prstGeom>
          <a:solidFill>
            <a:srgbClr val="F5F7FA"/>
          </a:solidFill>
          <a:ln w="15875">
            <a:solidFill>
              <a:srgbClr val="2659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263640" y="3611880"/>
            <a:ext cx="4892040" cy="310896"/>
          </a:xfrm>
          <a:prstGeom prst="rect">
            <a:avLst/>
          </a:prstGeom>
          <a:solidFill>
            <a:srgbClr val="2659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373368" y="3639312"/>
            <a:ext cx="4709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Aptos"/>
              </a:rPr>
              <a:t>Continuity with generation/recombination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28232" y="4014216"/>
            <a:ext cx="4599432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>
                <a:solidFill>
                  <a:srgbClr val="1E1E1E"/>
                </a:solidFill>
                <a:latin typeface="Cambria Math"/>
              </a:rPr>
              <a:t>∂n/∂t = (1/q) ∇ · J_n + G − R</a:t>
            </a:r>
          </a:p>
          <a:p>
            <a:pPr algn="ctr"/>
            <a:r>
              <a:rPr sz="2000">
                <a:solidFill>
                  <a:srgbClr val="1E1E1E"/>
                </a:solidFill>
                <a:latin typeface="Cambria Math"/>
              </a:rPr>
              <a:t>∂p/∂t = −(1/q) ∇ · J_p + G − 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5897880"/>
            <a:ext cx="11109960" cy="457200"/>
          </a:xfrm>
          <a:prstGeom prst="roundRect">
            <a:avLst/>
          </a:prstGeom>
          <a:solidFill>
            <a:srgbClr val="F5F7FA"/>
          </a:solidFill>
          <a:ln w="16510">
            <a:solidFill>
              <a:srgbClr val="2C78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58368" y="5980176"/>
            <a:ext cx="10881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E1E1E"/>
                </a:solidFill>
                <a:latin typeface="Aptos"/>
              </a:rPr>
              <a:t>Key point: Module 5 is where the materials physics becomes an electrical-performance prediction.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6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11556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Aptos Display"/>
              </a:rPr>
              <a:t>Module 6: coupled multiphysics degradation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5A626C"/>
                </a:solidFill>
                <a:latin typeface="Aptos"/>
              </a:rPr>
              <a:t>Why the modules cannot remain independent forever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67160" y="6400800"/>
            <a:ext cx="365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5A626C"/>
                </a:solidFill>
              </a:rPr>
              <a:t>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261872"/>
            <a:ext cx="5440680" cy="470916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>
              <a:spcAft>
                <a:spcPts val="600"/>
              </a:spcAft>
              <a:defRPr sz="1900">
                <a:solidFill>
                  <a:srgbClr val="1E1E1E"/>
                </a:solidFill>
                <a:latin typeface="Aptos"/>
              </a:defRPr>
            </a:pPr>
            <a:r>
              <a:t>In the final framework, Modules 2, 3, 4a/4b, and 5 must be iterated to consistency.</a:t>
            </a:r>
          </a:p>
          <a:p>
            <a:pPr>
              <a:spcAft>
                <a:spcPts val="600"/>
              </a:spcAft>
              <a:defRPr sz="1900">
                <a:solidFill>
                  <a:srgbClr val="1E1E1E"/>
                </a:solidFill>
                <a:latin typeface="Aptos"/>
              </a:defRPr>
            </a:pPr>
            <a:r>
              <a:t>Defects modify space charge and recombination.</a:t>
            </a:r>
          </a:p>
          <a:p>
            <a:pPr>
              <a:spcAft>
                <a:spcPts val="600"/>
              </a:spcAft>
              <a:defRPr sz="1900">
                <a:solidFill>
                  <a:srgbClr val="1E1E1E"/>
                </a:solidFill>
                <a:latin typeface="Aptos"/>
              </a:defRPr>
            </a:pPr>
            <a:r>
              <a:t>Temperature modifies defect kinetics and transport coefficients.</a:t>
            </a:r>
          </a:p>
          <a:p>
            <a:pPr>
              <a:spcAft>
                <a:spcPts val="600"/>
              </a:spcAft>
              <a:defRPr sz="1900">
                <a:solidFill>
                  <a:srgbClr val="1E1E1E"/>
                </a:solidFill>
                <a:latin typeface="Aptos"/>
              </a:defRPr>
            </a:pPr>
            <a:r>
              <a:t>Carrier transport can create additional Joule heating and alter occupations.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325880"/>
            <a:ext cx="4846320" cy="1783080"/>
          </a:xfrm>
          <a:prstGeom prst="roundRect">
            <a:avLst/>
          </a:prstGeom>
          <a:solidFill>
            <a:srgbClr val="EAF3F8"/>
          </a:solidFill>
          <a:ln w="15875">
            <a:solidFill>
              <a:srgbClr val="2659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309360" y="1325880"/>
            <a:ext cx="4846320" cy="310896"/>
          </a:xfrm>
          <a:prstGeom prst="rect">
            <a:avLst/>
          </a:prstGeom>
          <a:solidFill>
            <a:srgbClr val="2659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19088" y="1353312"/>
            <a:ext cx="46634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Aptos"/>
              </a:rPr>
              <a:t>Coupled unknowns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73952" y="1728216"/>
            <a:ext cx="4553712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>
                <a:solidFill>
                  <a:srgbClr val="1E1E1E"/>
                </a:solidFill>
                <a:latin typeface="Cambria Math"/>
              </a:rPr>
              <a:t>{ C_j(x,y,t),  T(x,y,t),  φ(x,y,t),  n(x,y,t),  p(x,y,t) }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3520440"/>
            <a:ext cx="4663440" cy="196596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1E1E1E"/>
                </a:solidFill>
                <a:latin typeface="Aptos"/>
              </a:defRPr>
            </a:pPr>
            <a:r>
              <a:t>A practical strategy is weak one-way coupling first, then stronger feedback, and finally iterative convergence to a chosen tolerance.</a:t>
            </a:r>
          </a:p>
          <a:p>
            <a:pPr>
              <a:spcAft>
                <a:spcPts val="600"/>
              </a:spcAft>
              <a:defRPr sz="1700">
                <a:solidFill>
                  <a:srgbClr val="1E1E1E"/>
                </a:solidFill>
                <a:latin typeface="Aptos"/>
              </a:defRPr>
            </a:pPr>
            <a:r>
              <a:t>This makes the multiphysics executable without pretending the fully coupled problem is easy on day one.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5897880"/>
            <a:ext cx="11109960" cy="457200"/>
          </a:xfrm>
          <a:prstGeom prst="roundRect">
            <a:avLst/>
          </a:prstGeom>
          <a:solidFill>
            <a:srgbClr val="F5F7FA"/>
          </a:solidFill>
          <a:ln w="16510">
            <a:solidFill>
              <a:srgbClr val="2C78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58368" y="5980176"/>
            <a:ext cx="10881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E1E1E"/>
                </a:solidFill>
                <a:latin typeface="Aptos"/>
              </a:rPr>
              <a:t>Key point: Module 6 is the point where the project becomes a real degradation simulator rather than a set of separate solvers.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6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11556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Aptos Display"/>
              </a:rPr>
              <a:t>Module 7: multiscale extrapolation and scalable prediction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5A626C"/>
                </a:solidFill>
                <a:latin typeface="Aptos"/>
              </a:rPr>
              <a:t>How to move beyond what a direct high-fidelity solve can afford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67160" y="6400800"/>
            <a:ext cx="365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5A626C"/>
                </a:solidFill>
              </a:rPr>
              <a:t>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325880"/>
            <a:ext cx="10424160" cy="448056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>
              <a:spcAft>
                <a:spcPts val="600"/>
              </a:spcAft>
              <a:defRPr sz="2100">
                <a:solidFill>
                  <a:srgbClr val="1E1E1E"/>
                </a:solidFill>
                <a:latin typeface="Aptos"/>
              </a:defRPr>
            </a:pPr>
            <a:r>
              <a:t>Direct high-fidelity simulation will always be limited in spatial extent, time horizon, or event statistics.</a:t>
            </a:r>
          </a:p>
          <a:p>
            <a:pPr>
              <a:spcAft>
                <a:spcPts val="600"/>
              </a:spcAft>
              <a:defRPr sz="2100">
                <a:solidFill>
                  <a:srgbClr val="1E1E1E"/>
                </a:solidFill>
                <a:latin typeface="Aptos"/>
              </a:defRPr>
            </a:pPr>
            <a:r>
              <a:t>Module 7 exists to push beyond those limits using controlled approximations rather than uncontrolled guesses.</a:t>
            </a:r>
          </a:p>
          <a:p>
            <a:pPr>
              <a:spcAft>
                <a:spcPts val="600"/>
              </a:spcAft>
              <a:defRPr sz="2100">
                <a:solidFill>
                  <a:srgbClr val="1E1E1E"/>
                </a:solidFill>
                <a:latin typeface="Aptos"/>
              </a:defRPr>
            </a:pPr>
            <a:r>
              <a:t>Candidate strategies include reduced-order models, statistical upscaling, surrogate models, hybrid multiresolution workflows, and quantified error bars.</a:t>
            </a:r>
          </a:p>
          <a:p>
            <a:pPr>
              <a:spcAft>
                <a:spcPts val="600"/>
              </a:spcAft>
              <a:defRPr sz="2100">
                <a:solidFill>
                  <a:srgbClr val="1E1E1E"/>
                </a:solidFill>
                <a:latin typeface="Aptos"/>
              </a:defRPr>
            </a:pPr>
            <a:r>
              <a:t>This module is especially important if the project is eventually used to predict rare-event degradation or large-area device behavior.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897880"/>
            <a:ext cx="11109960" cy="457200"/>
          </a:xfrm>
          <a:prstGeom prst="roundRect">
            <a:avLst/>
          </a:prstGeom>
          <a:solidFill>
            <a:srgbClr val="F5F7FA"/>
          </a:solidFill>
          <a:ln w="16510">
            <a:solidFill>
              <a:srgbClr val="2C78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58368" y="5980176"/>
            <a:ext cx="10881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E1E1E"/>
                </a:solidFill>
                <a:latin typeface="Aptos"/>
              </a:rPr>
              <a:t>Key point: Module 7 is what turns a physically rich simulator into a practically useful prediction tool.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6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11556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Aptos Display"/>
              </a:rPr>
              <a:t>Conclusion and immediate presentation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5A626C"/>
                </a:solidFill>
                <a:latin typeface="Aptos"/>
              </a:rPr>
              <a:t>What this lecture-style deck is trying to communicate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67160" y="6400800"/>
            <a:ext cx="365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5A626C"/>
                </a:solidFill>
              </a:rPr>
              <a:t>20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097280"/>
            <a:ext cx="5440680" cy="347472"/>
          </a:xfrm>
          <a:prstGeom prst="roundRect">
            <a:avLst/>
          </a:prstGeom>
          <a:solidFill>
            <a:srgbClr val="F5F7FA"/>
          </a:solidFill>
          <a:ln>
            <a:solidFill>
              <a:srgbClr val="2659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12648" y="1143000"/>
            <a:ext cx="5212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63A5F"/>
                </a:solidFill>
                <a:latin typeface="Aptos"/>
              </a:rPr>
              <a:t>Main scientific message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097280"/>
            <a:ext cx="5440680" cy="347472"/>
          </a:xfrm>
          <a:prstGeom prst="roundRect">
            <a:avLst/>
          </a:prstGeom>
          <a:solidFill>
            <a:srgbClr val="F5F7FA"/>
          </a:solidFill>
          <a:ln>
            <a:solidFill>
              <a:srgbClr val="2659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281928" y="1143000"/>
            <a:ext cx="5212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63A5F"/>
                </a:solidFill>
                <a:latin typeface="Aptos"/>
              </a:rPr>
              <a:t>What to emphasize during the talk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1554480"/>
            <a:ext cx="5212080" cy="420624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>
              <a:spcAft>
                <a:spcPts val="600"/>
              </a:spcAft>
              <a:defRPr sz="1900">
                <a:solidFill>
                  <a:srgbClr val="1E1E1E"/>
                </a:solidFill>
                <a:latin typeface="Aptos"/>
              </a:defRPr>
            </a:pPr>
            <a:r>
              <a:t>Radiation damage in silicon is a dynamic, coupled, multiphysics problem.</a:t>
            </a:r>
          </a:p>
          <a:p>
            <a:pPr>
              <a:spcAft>
                <a:spcPts val="600"/>
              </a:spcAft>
              <a:defRPr sz="1900">
                <a:solidFill>
                  <a:srgbClr val="1E1E1E"/>
                </a:solidFill>
                <a:latin typeface="Aptos"/>
              </a:defRPr>
            </a:pPr>
            <a:r>
              <a:t>The project is designed to connect initial radiation deposition to measurable device degradation through explicit intermediate physics.</a:t>
            </a:r>
          </a:p>
          <a:p>
            <a:pPr>
              <a:spcAft>
                <a:spcPts val="600"/>
              </a:spcAft>
              <a:defRPr sz="1900">
                <a:solidFill>
                  <a:srgbClr val="1E1E1E"/>
                </a:solidFill>
                <a:latin typeface="Aptos"/>
              </a:defRPr>
            </a:pPr>
            <a:r>
              <a:t>The existing physics notes already define the backbone for Modules 2, 3, 4a, and 4b.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1554480"/>
            <a:ext cx="5166360" cy="420624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>
              <a:spcAft>
                <a:spcPts val="600"/>
              </a:spcAft>
              <a:defRPr sz="1900">
                <a:solidFill>
                  <a:srgbClr val="1E1E1E"/>
                </a:solidFill>
                <a:latin typeface="Aptos"/>
              </a:defRPr>
            </a:pPr>
            <a:r>
              <a:t>Use your custom drawings to show the physical picture, not to replace the equations.</a:t>
            </a:r>
          </a:p>
          <a:p>
            <a:pPr>
              <a:spcAft>
                <a:spcPts val="600"/>
              </a:spcAft>
              <a:defRPr sz="1900">
                <a:solidFill>
                  <a:srgbClr val="1E1E1E"/>
                </a:solidFill>
                <a:latin typeface="Aptos"/>
              </a:defRPr>
            </a:pPr>
            <a:r>
              <a:t>Treat each slide as one derivation step or one physical idea.</a:t>
            </a:r>
          </a:p>
          <a:p>
            <a:pPr>
              <a:spcAft>
                <a:spcPts val="600"/>
              </a:spcAft>
              <a:defRPr sz="1900">
                <a:solidFill>
                  <a:srgbClr val="1E1E1E"/>
                </a:solidFill>
                <a:latin typeface="Aptos"/>
              </a:defRPr>
            </a:pPr>
            <a:r>
              <a:t>For a 30-minute talk, this 20-slide version is a build draft; later trim by merging slides within each module.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5897880"/>
            <a:ext cx="11109960" cy="457200"/>
          </a:xfrm>
          <a:prstGeom prst="roundRect">
            <a:avLst/>
          </a:prstGeom>
          <a:solidFill>
            <a:srgbClr val="F5F7FA"/>
          </a:solidFill>
          <a:ln w="16510">
            <a:solidFill>
              <a:srgbClr val="2C78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58368" y="5980176"/>
            <a:ext cx="10881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E1E1E"/>
                </a:solidFill>
                <a:latin typeface="Aptos"/>
              </a:rPr>
              <a:t>Key point: The strongest framing is: radiation creates evolving material damage, and evolving material damage changes device behavior.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95</TotalTime>
  <Words>2922</Words>
  <Application>Microsoft Office PowerPoint</Application>
  <PresentationFormat>Widescreen</PresentationFormat>
  <Paragraphs>254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6" baseType="lpstr">
      <vt:lpstr>Aptos</vt:lpstr>
      <vt:lpstr>Aptos Display</vt:lpstr>
      <vt:lpstr>Arial</vt:lpstr>
      <vt:lpstr>Calibri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Kim, Chan [US] (MS)</dc:creator>
  <cp:keywords/>
  <dc:description>generated using python-pptx</dc:description>
  <cp:lastModifiedBy>Kim, Chan [US] (MS)</cp:lastModifiedBy>
  <cp:revision>2</cp:revision>
  <dcterms:created xsi:type="dcterms:W3CDTF">2013-01-27T09:14:16Z</dcterms:created>
  <dcterms:modified xsi:type="dcterms:W3CDTF">2026-04-23T17:56:42Z</dcterms:modified>
  <cp:category/>
</cp:coreProperties>
</file>