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Radiation Effects Project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Physics-lecture version: slides as a compact summary of the physics notes and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676656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63A5F"/>
                </a:solidFill>
                <a:latin typeface="Aptos"/>
              </a:defRPr>
            </a:pPr>
            <a:r>
              <a:t>Radiation-Induced Defect Evolution and Device Degradation in Silicon</a:t>
            </a:r>
          </a:p>
          <a:p>
            <a:pPr>
              <a:defRPr sz="1800">
                <a:latin typeface="Aptos"/>
              </a:defRPr>
            </a:pPr>
          </a:p>
          <a:p>
            <a:pPr>
              <a:defRPr sz="1800">
                <a:latin typeface="Aptos"/>
              </a:defRPr>
            </a:pPr>
            <a:r>
              <a:t>Goal:</a:t>
            </a:r>
          </a:p>
          <a:p>
            <a:pPr>
              <a:defRPr sz="1800">
                <a:latin typeface="Aptos"/>
              </a:defRPr>
            </a:pPr>
            <a:r>
              <a:t>build a physics-based chain from radiation deposition → defect creation and evolution → field change → carrier-transport change → device degradation</a:t>
            </a:r>
          </a:p>
          <a:p>
            <a:pPr>
              <a:defRPr sz="1800">
                <a:latin typeface="Aptos"/>
              </a:defRPr>
            </a:pPr>
          </a:p>
          <a:p>
            <a:pPr>
              <a:defRPr sz="1800">
                <a:latin typeface="Aptos"/>
              </a:defRPr>
            </a:pPr>
            <a:r>
              <a:t>This deck is organized as a lecture:</a:t>
            </a:r>
          </a:p>
          <a:p>
            <a:pPr>
              <a:defRPr sz="1800">
                <a:latin typeface="Aptos"/>
              </a:defRPr>
            </a:pPr>
            <a:r>
              <a:t>• governing equations</a:t>
            </a:r>
          </a:p>
          <a:p>
            <a:pPr>
              <a:defRPr sz="1800">
                <a:latin typeface="Aptos"/>
              </a:defRPr>
            </a:pPr>
            <a:r>
              <a:t>• physical interpretation</a:t>
            </a:r>
          </a:p>
          <a:p>
            <a:pPr>
              <a:defRPr sz="1800">
                <a:latin typeface="Aptos"/>
              </a:defRPr>
            </a:pPr>
            <a:r>
              <a:t>• module-to-module coupling</a:t>
            </a:r>
          </a:p>
          <a:p>
            <a:pPr>
              <a:defRPr sz="1800">
                <a:latin typeface="Aptos"/>
              </a:defRPr>
            </a:pPr>
            <a:r>
              <a:t>• verification logic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1325880"/>
            <a:ext cx="3566160" cy="2926080"/>
          </a:xfrm>
          <a:prstGeom prst="roundRect">
            <a:avLst/>
          </a:prstGeom>
          <a:solidFill>
            <a:srgbClr val="EAF3F8"/>
          </a:solidFill>
          <a:ln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79" y="2103120"/>
            <a:ext cx="3017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6598C"/>
                </a:solidFill>
                <a:latin typeface="Aptos"/>
              </a:rPr>
              <a:t>Place your custom
physics schematic 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Treat the project as one connected physical story, not as isolated code modules.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Project physics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What the full framework is trying to explain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97280"/>
            <a:ext cx="5440680" cy="347472"/>
          </a:xfrm>
          <a:prstGeom prst="roundRect">
            <a:avLst/>
          </a:prstGeom>
          <a:solidFill>
            <a:srgbClr val="F5F7FA"/>
          </a:solidFill>
          <a:ln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43000"/>
            <a:ext cx="5212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A5F"/>
                </a:solidFill>
                <a:latin typeface="Aptos"/>
              </a:rPr>
              <a:t>Causal sequence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97280"/>
            <a:ext cx="5440680" cy="347472"/>
          </a:xfrm>
          <a:prstGeom prst="roundRect">
            <a:avLst/>
          </a:prstGeom>
          <a:solidFill>
            <a:srgbClr val="F5F7FA"/>
          </a:solidFill>
          <a:ln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1928" y="1143000"/>
            <a:ext cx="5212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A5F"/>
                </a:solidFill>
                <a:latin typeface="Aptos"/>
              </a:rPr>
              <a:t>Why each step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5212080" cy="43891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1E1E1E"/>
                </a:solidFill>
                <a:latin typeface="Aptos"/>
              </a:defRPr>
            </a:pPr>
            <a:r>
              <a:t>1. Radiation deposits energy in silicon.</a:t>
            </a:r>
          </a:p>
          <a:p>
            <a:pPr>
              <a:spcAft>
                <a:spcPts val="600"/>
              </a:spcAft>
              <a:defRPr sz="2100">
                <a:solidFill>
                  <a:srgbClr val="1E1E1E"/>
                </a:solidFill>
                <a:latin typeface="Aptos"/>
              </a:defRPr>
            </a:pPr>
            <a:r>
              <a:t>2. Deposited energy seeds point defects and effective defect populations.</a:t>
            </a:r>
          </a:p>
          <a:p>
            <a:pPr>
              <a:spcAft>
                <a:spcPts val="600"/>
              </a:spcAft>
              <a:defRPr sz="2100">
                <a:solidFill>
                  <a:srgbClr val="1E1E1E"/>
                </a:solidFill>
                <a:latin typeface="Aptos"/>
              </a:defRPr>
            </a:pPr>
            <a:r>
              <a:t>3. Defects diffuse, react, cluster, dissociate, and anneal.</a:t>
            </a:r>
          </a:p>
          <a:p>
            <a:pPr>
              <a:spcAft>
                <a:spcPts val="600"/>
              </a:spcAft>
              <a:defRPr sz="2100">
                <a:solidFill>
                  <a:srgbClr val="1E1E1E"/>
                </a:solidFill>
                <a:latin typeface="Aptos"/>
              </a:defRPr>
            </a:pPr>
            <a:r>
              <a:t>4. Charged defects modify the space-charge density.</a:t>
            </a:r>
          </a:p>
          <a:p>
            <a:pPr>
              <a:spcAft>
                <a:spcPts val="600"/>
              </a:spcAft>
              <a:defRPr sz="2100">
                <a:solidFill>
                  <a:srgbClr val="1E1E1E"/>
                </a:solidFill>
                <a:latin typeface="Aptos"/>
              </a:defRPr>
            </a:pPr>
            <a:r>
              <a:t>5. The electrostatic field and temperature field change carrier motion.</a:t>
            </a:r>
          </a:p>
          <a:p>
            <a:pPr>
              <a:spcAft>
                <a:spcPts val="600"/>
              </a:spcAft>
              <a:defRPr sz="2100">
                <a:solidFill>
                  <a:srgbClr val="1E1E1E"/>
                </a:solidFill>
                <a:latin typeface="Aptos"/>
              </a:defRPr>
            </a:pPr>
            <a:r>
              <a:t>6. Carrier transport and recombination change measurable device behavior.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54480"/>
            <a:ext cx="5212080" cy="43891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Damage is not only about where energy was initially deposited.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The later evolution matters because the material keeps changing after the radiation event.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Temperature is active physics, not a bookkeeping variable: it changes diffusion coefficients, annealing rates, mobility, and recombination.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The final quantity of interest is device degradation, so the framework must connect materials physics to electronic behavior.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A deposition map is only the beginning; the project is about the downstream evolution of that damage.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Roadmap and run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How the modules fit together in the intended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10972800" cy="1005840"/>
          </a:xfrm>
          <a:prstGeom prst="roundRect">
            <a:avLst/>
          </a:prstGeom>
          <a:solidFill>
            <a:srgbClr val="EAF3F8"/>
          </a:solidFill>
          <a:ln w="15875"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10972800" cy="310896"/>
          </a:xfrm>
          <a:prstGeom prst="rect">
            <a:avLst/>
          </a:prstGeom>
          <a:solidFill>
            <a:srgbClr val="265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261872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Full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636776"/>
            <a:ext cx="106801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Module 1 → Module 3 → Module 4a / 4b → Module 2 → Module 5 → Module 6 → Module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14600"/>
            <a:ext cx="5303520" cy="30175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Module 1: interaction-resolved Geant4 radiation deposition campaign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Module 3: 2D defect evolution with diffusion, reaction, and annealing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Module 4a: continuum thermal transport baseline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Module 4b: phonon-aware thermal comparison branch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514600"/>
            <a:ext cx="5303520" cy="30175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Module 2: 2D electrostatics with defect-dependent space charge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Module 5: 2D drift-diffusion carrier transport with defect-assisted recombination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Module 6: self-consistent multiphysics iteration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Module 7: extrapolation to larger scales and rarer events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The project is built to move from an externally imposed radiation insult to a self-consistent degraded device state.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Architecture decisions behind Project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Why the revision moved to 2D and split the thermal module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97280"/>
            <a:ext cx="5440680" cy="347472"/>
          </a:xfrm>
          <a:prstGeom prst="roundRect">
            <a:avLst/>
          </a:prstGeom>
          <a:solidFill>
            <a:srgbClr val="F5F7FA"/>
          </a:solidFill>
          <a:ln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43000"/>
            <a:ext cx="5212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A5F"/>
                </a:solidFill>
                <a:latin typeface="Aptos"/>
              </a:rPr>
              <a:t>Why 2D for Modules 2–6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97280"/>
            <a:ext cx="5440680" cy="347472"/>
          </a:xfrm>
          <a:prstGeom prst="roundRect">
            <a:avLst/>
          </a:prstGeom>
          <a:solidFill>
            <a:srgbClr val="F5F7FA"/>
          </a:solidFill>
          <a:ln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1928" y="1143000"/>
            <a:ext cx="5212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A5F"/>
                </a:solidFill>
                <a:latin typeface="Aptos"/>
              </a:rPr>
              <a:t>Why split Module 4 into 4a and 4b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5257800" cy="42976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A 1D model suppresses lateral spreading, field bending, localized heating, and current crowding.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A Geant4 deposition pattern is naturally spatially structured, so the downstream modules should preserve that structure.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The first 2D implementations can still stay simple: rectangular domains, structured grids, simple boundary conditions, and weak coupling.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54480"/>
            <a:ext cx="5166360" cy="42976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Module 4a is the baseline continuum heat-equation model.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Module 4b is the richer phonon-aware branch for cases where bulk conductivity is not enough.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This split lets the project compare a simpler thermal model against a more physically detailed one instead of assuming the richer model is always necessary.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The revision is not complexity for its own sake; it preserves the spatial physics that matter while keeping the first implementation executable.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Module 2: electrostatics starts from Gauss's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Physics note summary: from Maxwell to the Poisson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5212080" cy="44805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In the electrostatic limit, the magnetic time-variation terms drop out and the problem reduces to the scalar electric potential.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With E = −∇φ and ∇·E = ρ/ε, the governing equation becomes a Poisson equation for φ.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This is the natural equation because the local curvature of φ is determined by the local space-charge density.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25880"/>
            <a:ext cx="5212080" cy="1828800"/>
          </a:xfrm>
          <a:prstGeom prst="roundRect">
            <a:avLst/>
          </a:prstGeom>
          <a:solidFill>
            <a:srgbClr val="EAF3F8"/>
          </a:solidFill>
          <a:ln w="15875"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26480" y="1325880"/>
            <a:ext cx="5212080" cy="310896"/>
          </a:xfrm>
          <a:prstGeom prst="rect">
            <a:avLst/>
          </a:prstGeom>
          <a:solidFill>
            <a:srgbClr val="265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6208" y="1353312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Core electrostatic 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1072" y="1728216"/>
            <a:ext cx="4919472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∇ · E = ρ / ε</a:t>
            </a:r>
          </a:p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E = − ∇φ</a:t>
            </a:r>
          </a:p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⇒  ∇ · ( ε ∇φ ) = − 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429000"/>
            <a:ext cx="5212080" cy="1371600"/>
          </a:xfrm>
          <a:prstGeom prst="roundRect">
            <a:avLst/>
          </a:prstGeom>
          <a:solidFill>
            <a:srgbClr val="F5F7FA"/>
          </a:solidFill>
          <a:ln w="15875"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3429000"/>
            <a:ext cx="5212080" cy="310896"/>
          </a:xfrm>
          <a:prstGeom prst="rect">
            <a:avLst/>
          </a:prstGeom>
          <a:solidFill>
            <a:srgbClr val="265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3456432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Uniform-permittivity limit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3831336"/>
            <a:ext cx="491947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ε ∇²φ = − ρ</a:t>
            </a:r>
          </a:p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or  ∇²φ = − ρ / 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Module 2 is fundamentally a space-charge-to-potential map.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Module 2: what makes up the semiconductor space charge?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The electrostatic source term is a sum of mobile, dopant, and defect charges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5303520" cy="44805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The net charge density is not one thing; it is a sum of all charged constituents in the semiconductor.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Electrons and holes contribute mobile charge.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Ionized donors and acceptors contribute fixed dopant charge.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Radiation-induced defects contribute additional charged states and can perturb depletion structure and field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25880"/>
            <a:ext cx="5074920" cy="1965960"/>
          </a:xfrm>
          <a:prstGeom prst="roundRect">
            <a:avLst/>
          </a:prstGeom>
          <a:solidFill>
            <a:srgbClr val="EAF3F8"/>
          </a:solidFill>
          <a:ln w="15875"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72200" y="1325880"/>
            <a:ext cx="5074920" cy="310896"/>
          </a:xfrm>
          <a:prstGeom prst="rect">
            <a:avLst/>
          </a:prstGeom>
          <a:solidFill>
            <a:srgbClr val="265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1928" y="1353312"/>
            <a:ext cx="4892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Charge-density decomposition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6792" y="1728216"/>
            <a:ext cx="4782312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ρ = q ( p − n + N_D^+ − N_A^- + Σ_j z_j C_j 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611880"/>
            <a:ext cx="5074920" cy="1645920"/>
          </a:xfrm>
          <a:prstGeom prst="roundRect">
            <a:avLst/>
          </a:prstGeom>
          <a:solidFill>
            <a:srgbClr val="F5F7FA"/>
          </a:solidFill>
          <a:ln w="15875"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3611880"/>
            <a:ext cx="5074920" cy="310896"/>
          </a:xfrm>
          <a:prstGeom prst="rect">
            <a:avLst/>
          </a:prstGeom>
          <a:solidFill>
            <a:srgbClr val="265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3639312"/>
            <a:ext cx="4892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Project 2D Poisson equation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4014216"/>
            <a:ext cx="478231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∂/∂x ( ε ∂φ/∂x ) + ∂/∂y ( ε ∂φ/∂y ) = − ρ(x,y)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Defect physics enters Module 2 by changing the source term ρ(x,y), not by replacing electrostatics.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Module 2: boundary conditions, coupling, and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What must be prescribed, what is received, and what is checked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97280"/>
            <a:ext cx="5440680" cy="347472"/>
          </a:xfrm>
          <a:prstGeom prst="roundRect">
            <a:avLst/>
          </a:prstGeom>
          <a:solidFill>
            <a:srgbClr val="F5F7FA"/>
          </a:solidFill>
          <a:ln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43000"/>
            <a:ext cx="5212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A5F"/>
                </a:solidFill>
                <a:latin typeface="Aptos"/>
              </a:rPr>
              <a:t>Boundary conditions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97280"/>
            <a:ext cx="5440680" cy="347472"/>
          </a:xfrm>
          <a:prstGeom prst="roundRect">
            <a:avLst/>
          </a:prstGeom>
          <a:solidFill>
            <a:srgbClr val="F5F7FA"/>
          </a:solidFill>
          <a:ln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1928" y="1143000"/>
            <a:ext cx="5212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A5F"/>
                </a:solidFill>
                <a:latin typeface="Aptos"/>
              </a:rPr>
              <a:t>Coupling and verification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5212080" cy="42519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Dirichlet: prescribe φ at a contact or biased boundary.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Neumann: prescribe normal electric flux, equivalent to surface charge or insulated symmetry conditions.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Mixed physical picture: contacts may be Dirichlet, symmetry planes often Neumann.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54480"/>
            <a:ext cx="5212080" cy="42519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Input from Module 3: charged defect populations C_j(x,y,t).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Input from Module 4: temperature-dependent quantities if permittivity or occupations are later made temperature-sensitive.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Output to Module 5: electric potential φ and field E = −∇φ.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Verification cases: zero charge, linear potential, uniform space charge, and a defect-charge perturbation test.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Module 2 is only as good as the defect populations and boundary conditions that feed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Module 3: defect evolution begins with a conservation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Physics note summary: balance law + Fick transport + reaction kinetics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25880"/>
            <a:ext cx="5303520" cy="45262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The state variable is a continuum defect concentration C(x,y,t).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Conservation says the time-rate of change equals inflow/outflow plus local sources and sinks.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Diffusion arises because defects drift down a concentration gradient.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Annealing and reactions are represented by sink/source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25880"/>
            <a:ext cx="5074920" cy="1965960"/>
          </a:xfrm>
          <a:prstGeom prst="roundRect">
            <a:avLst/>
          </a:prstGeom>
          <a:solidFill>
            <a:srgbClr val="EAF3F8"/>
          </a:solidFill>
          <a:ln w="15875"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72200" y="1325880"/>
            <a:ext cx="5074920" cy="310896"/>
          </a:xfrm>
          <a:prstGeom prst="rect">
            <a:avLst/>
          </a:prstGeom>
          <a:solidFill>
            <a:srgbClr val="265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1928" y="1353312"/>
            <a:ext cx="4892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Balance-law 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6792" y="1728216"/>
            <a:ext cx="4782312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∂C/∂t + ∇ · J = 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520440"/>
            <a:ext cx="5074920" cy="1920240"/>
          </a:xfrm>
          <a:prstGeom prst="roundRect">
            <a:avLst/>
          </a:prstGeom>
          <a:solidFill>
            <a:srgbClr val="F5F7FA"/>
          </a:solidFill>
          <a:ln w="15875"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3520440"/>
            <a:ext cx="5074920" cy="310896"/>
          </a:xfrm>
          <a:prstGeom prst="rect">
            <a:avLst/>
          </a:prstGeom>
          <a:solidFill>
            <a:srgbClr val="265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3547872"/>
            <a:ext cx="4892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With Fick transport and first-order annealing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3922776"/>
            <a:ext cx="478231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J = − D ∇C</a:t>
            </a:r>
          </a:p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∂C/∂t = ∇ · ( D ∇C ) − k C + 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Module 3 is the engine that turns initial damage into a time-evolving defect landscape.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Module 3: timescales and Arrhenius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How to think physically about diffusion versus annealing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97280"/>
            <a:ext cx="5440680" cy="347472"/>
          </a:xfrm>
          <a:prstGeom prst="roundRect">
            <a:avLst/>
          </a:prstGeom>
          <a:solidFill>
            <a:srgbClr val="F5F7FA"/>
          </a:solidFill>
          <a:ln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43000"/>
            <a:ext cx="5212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A5F"/>
                </a:solidFill>
                <a:latin typeface="Aptos"/>
              </a:rPr>
              <a:t>Characteristic timescales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97280"/>
            <a:ext cx="5440680" cy="347472"/>
          </a:xfrm>
          <a:prstGeom prst="roundRect">
            <a:avLst/>
          </a:prstGeom>
          <a:solidFill>
            <a:srgbClr val="F5F7FA"/>
          </a:solidFill>
          <a:ln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1928" y="1143000"/>
            <a:ext cx="5212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A5F"/>
                </a:solidFill>
                <a:latin typeface="Aptos"/>
              </a:rPr>
              <a:t>Thermal activation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5303520" cy="42976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Diffusion timescale: τ_D ~ L² / D.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Annealing timescale: τ_A ~ 1 / k.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If τ_D &lt;&lt; τ_A, defects spread before they disappear.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If τ_A &lt;&lt; τ_D, defects anneal locally before much migration occurs.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4892040" cy="1828800"/>
          </a:xfrm>
          <a:prstGeom prst="roundRect">
            <a:avLst/>
          </a:prstGeom>
          <a:solidFill>
            <a:srgbClr val="EAF3F8"/>
          </a:solidFill>
          <a:ln w="15875"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600200"/>
            <a:ext cx="4892040" cy="310896"/>
          </a:xfrm>
          <a:prstGeom prst="rect">
            <a:avLst/>
          </a:prstGeom>
          <a:solidFill>
            <a:srgbClr val="265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27632"/>
            <a:ext cx="4709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Arrhenius reduced coefficients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002536"/>
            <a:ext cx="4599432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D(T) = D_0 exp( − E_D / k_B T )</a:t>
            </a:r>
          </a:p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k(T) = k_0 exp( − E_A / k_B T 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57600"/>
            <a:ext cx="4754880" cy="19202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1E1E"/>
                </a:solidFill>
                <a:latin typeface="Aptos"/>
              </a:defRPr>
            </a:pPr>
            <a:r>
              <a:t>The exponential appears because migration and annealing must overcome activation barriers.</a:t>
            </a:r>
          </a:p>
          <a:p>
            <a:pPr>
              <a:spcAft>
                <a:spcPts val="600"/>
              </a:spcAft>
              <a:defRPr sz="1700">
                <a:solidFill>
                  <a:srgbClr val="1E1E1E"/>
                </a:solidFill>
                <a:latin typeface="Aptos"/>
              </a:defRPr>
            </a:pPr>
            <a:r>
              <a:t>In the current reduced model, these are effective coefficients that compress richer microscopic physics into executable continuum parameters.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Temperature changes the kinetics exponentially, so thermal physics strongly feeds back on defect evolution.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Module 3: what is implemented now, and how it is checked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From the physics note to the current MATLAB solver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5486400" cy="44348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The current implementation uses a 2D diffusion-reaction solver with material-aware reduced kinetic coefficients.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The coefficient hierarchy allows dependence on temperature, charge state, dopants, and electric field, while keeping the first implementation numerically manageable.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Geant4 damage maps can be imported as initial defect fields or source terms.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371600"/>
            <a:ext cx="4983480" cy="44348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Verification logic from the note:</a:t>
            </a:r>
          </a:p>
          <a:p>
            <a:pPr lvl="1">
              <a:spcAft>
                <a:spcPts val="200"/>
              </a:spcAft>
              <a:defRPr sz="1700">
                <a:solidFill>
                  <a:srgbClr val="1E1E1E"/>
                </a:solidFill>
                <a:latin typeface="Aptos"/>
              </a:defRPr>
            </a:pPr>
            <a:r>
              <a:t>pure annealing with no diffusion</a:t>
            </a:r>
          </a:p>
          <a:p>
            <a:pPr lvl="1">
              <a:spcAft>
                <a:spcPts val="200"/>
              </a:spcAft>
              <a:defRPr sz="1700">
                <a:solidFill>
                  <a:srgbClr val="1E1E1E"/>
                </a:solidFill>
                <a:latin typeface="Aptos"/>
              </a:defRPr>
            </a:pPr>
            <a:r>
              <a:t>pure diffusion with no reaction</a:t>
            </a:r>
          </a:p>
          <a:p>
            <a:pPr lvl="1">
              <a:spcAft>
                <a:spcPts val="200"/>
              </a:spcAft>
              <a:defRPr sz="1700">
                <a:solidFill>
                  <a:srgbClr val="1E1E1E"/>
                </a:solidFill>
                <a:latin typeface="Aptos"/>
              </a:defRPr>
            </a:pPr>
            <a:r>
              <a:t>uniform-state preservation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These checks verify conservation structure, kinetics, and the numerical diffusion operator separately.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Module 3 is already the clearest bridge from Geant4 outputs to later electrical and thermal consequences.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Module 4a: continuum thermal transport from energy conservation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Physics note summary: internal-energy balance + Fourier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25880"/>
            <a:ext cx="5303520" cy="45262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Temperature is introduced through local conservation of energy in a material element.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The internal-energy change is driven by heat-flux divergence and local volumetric sources.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Fourier's law closes the problem by relating heat flux to the temperature gradient.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280160"/>
            <a:ext cx="5074920" cy="1965960"/>
          </a:xfrm>
          <a:prstGeom prst="roundRect">
            <a:avLst/>
          </a:prstGeom>
          <a:solidFill>
            <a:srgbClr val="EAF3F8"/>
          </a:solidFill>
          <a:ln w="15875"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72200" y="1280160"/>
            <a:ext cx="5074920" cy="310896"/>
          </a:xfrm>
          <a:prstGeom prst="rect">
            <a:avLst/>
          </a:prstGeom>
          <a:solidFill>
            <a:srgbClr val="265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1928" y="1307592"/>
            <a:ext cx="4892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Energy conservation + constitutive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6792" y="1682496"/>
            <a:ext cx="4782312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ρ c_p ∂T/∂t = − ∇ · q + Q</a:t>
            </a:r>
          </a:p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q = − k ∇T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520440"/>
            <a:ext cx="5074920" cy="1874519"/>
          </a:xfrm>
          <a:prstGeom prst="roundRect">
            <a:avLst/>
          </a:prstGeom>
          <a:solidFill>
            <a:srgbClr val="F5F7FA"/>
          </a:solidFill>
          <a:ln w="15875"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3520440"/>
            <a:ext cx="5074920" cy="310896"/>
          </a:xfrm>
          <a:prstGeom prst="rect">
            <a:avLst/>
          </a:prstGeom>
          <a:solidFill>
            <a:srgbClr val="265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3547872"/>
            <a:ext cx="4892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Transient heat equation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3922776"/>
            <a:ext cx="4782312" cy="1417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ρ c_p ∂T/∂t = ∇ · ( k ∇T ) + Q</a:t>
            </a:r>
          </a:p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or  ∂T/∂t = α ∇²T + Q/(ρ c_p)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Module 4a supplies the baseline temperature field that later updates defect and transport coefficients.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Module 4a: physical interpretation of the heat equation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What each term means for radiation-damaged silicon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97280"/>
            <a:ext cx="5440680" cy="347472"/>
          </a:xfrm>
          <a:prstGeom prst="roundRect">
            <a:avLst/>
          </a:prstGeom>
          <a:solidFill>
            <a:srgbClr val="F5F7FA"/>
          </a:solidFill>
          <a:ln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43000"/>
            <a:ext cx="5212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A5F"/>
                </a:solidFill>
                <a:latin typeface="Aptos"/>
              </a:rPr>
              <a:t>What can act as a heat source?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97280"/>
            <a:ext cx="5440680" cy="347472"/>
          </a:xfrm>
          <a:prstGeom prst="roundRect">
            <a:avLst/>
          </a:prstGeom>
          <a:solidFill>
            <a:srgbClr val="F5F7FA"/>
          </a:solidFill>
          <a:ln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1928" y="1143000"/>
            <a:ext cx="5212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A5F"/>
                </a:solidFill>
                <a:latin typeface="Aptos"/>
              </a:rPr>
              <a:t>Boundary conditions and scales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72768"/>
            <a:ext cx="5212080" cy="41605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Deposited radiation energy can appear as an initial or transient source.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Electrical power dissipation can heat the device during operation.</a:t>
            </a:r>
          </a:p>
          <a:p>
            <a:pPr>
              <a:spcAft>
                <a:spcPts val="600"/>
              </a:spcAft>
              <a:defRPr sz="2000">
                <a:solidFill>
                  <a:srgbClr val="1E1E1E"/>
                </a:solidFill>
                <a:latin typeface="Aptos"/>
              </a:defRPr>
            </a:pPr>
            <a:r>
              <a:t>Defect reactions may also contribute weak heating or cooling terms in later refinements.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72768"/>
            <a:ext cx="5212080" cy="41605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Dirichlet: fixed temperature boundary.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Neumann: fixed heat flux or adiabatic boundary.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Robin: convective or interfacial thermal exchange.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The thermal diffusion timescale is τ_th ~ L² / α, which determines how fast a local hot spot spreads.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Module 4a is the first thermal baseline because it is simple, physically interpretable, and fast to verify.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Module 4a: coupling back into defect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How the temperature field enters Module 3 and why verification is straightforward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394960" cy="45720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The main role of Module 4a is not just to predict T(x,y,t), but to update temperature-dependent coefficients elsewhere.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In Module 3, both the defect diffusivity D(T) and annealing rate k(T) can be updated from the thermal field.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Later, temperature can also enter mobility, recombination, and carrier statistics in Module 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17320"/>
            <a:ext cx="5029200" cy="1783080"/>
          </a:xfrm>
          <a:prstGeom prst="roundRect">
            <a:avLst/>
          </a:prstGeom>
          <a:solidFill>
            <a:srgbClr val="EAF3F8"/>
          </a:solidFill>
          <a:ln w="15875"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72200" y="1417320"/>
            <a:ext cx="5029200" cy="310896"/>
          </a:xfrm>
          <a:prstGeom prst="rect">
            <a:avLst/>
          </a:prstGeom>
          <a:solidFill>
            <a:srgbClr val="265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1928" y="1444752"/>
            <a:ext cx="4846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Thermal-to-defect coupling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6792" y="1819656"/>
            <a:ext cx="4736592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D = D(T)</a:t>
            </a:r>
          </a:p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k = k(T)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566160"/>
            <a:ext cx="4754880" cy="21488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1E1E"/>
                </a:solidFill>
                <a:latin typeface="Aptos"/>
              </a:defRPr>
            </a:pPr>
            <a:r>
              <a:t>Verification cases in the note:</a:t>
            </a:r>
          </a:p>
          <a:p>
            <a:pPr lvl="1">
              <a:spcAft>
                <a:spcPts val="200"/>
              </a:spcAft>
              <a:defRPr sz="1700">
                <a:solidFill>
                  <a:srgbClr val="1E1E1E"/>
                </a:solidFill>
                <a:latin typeface="Aptos"/>
              </a:defRPr>
            </a:pPr>
            <a:r>
              <a:t>uniform equilibrium</a:t>
            </a:r>
          </a:p>
          <a:p>
            <a:pPr lvl="1">
              <a:spcAft>
                <a:spcPts val="200"/>
              </a:spcAft>
              <a:defRPr sz="1700">
                <a:solidFill>
                  <a:srgbClr val="1E1E1E"/>
                </a:solidFill>
                <a:latin typeface="Aptos"/>
              </a:defRPr>
            </a:pPr>
            <a:r>
              <a:t>localized hot-spot diffusion</a:t>
            </a:r>
          </a:p>
          <a:p>
            <a:pPr lvl="1">
              <a:spcAft>
                <a:spcPts val="200"/>
              </a:spcAft>
              <a:defRPr sz="1700">
                <a:solidFill>
                  <a:srgbClr val="1E1E1E"/>
                </a:solidFill>
                <a:latin typeface="Aptos"/>
              </a:defRPr>
            </a:pPr>
            <a:r>
              <a:t>driven steady-source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Without Module 4a, defect evolution is missing one of its strongest physical control knobs.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Module 4b: why a plain continuum thermal model can become insufficient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Physics note summary: in crystalline silicon, heat is carried by phonons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394960" cy="45720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Fourier's law assumes a local constitutive relation with an effective bulk conductivity.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That can break down when defect scattering, boundary scattering, size effects, or nonequilibrium phonon transport become important.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In silicon, the natural microscopic heat carriers are phonons, so a richer model should talk about phonon distributions and scattering.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17320"/>
            <a:ext cx="4983480" cy="1965960"/>
          </a:xfrm>
          <a:prstGeom prst="roundRect">
            <a:avLst/>
          </a:prstGeom>
          <a:solidFill>
            <a:srgbClr val="EAF3F8"/>
          </a:solidFill>
          <a:ln w="15875"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72200" y="1417320"/>
            <a:ext cx="4983480" cy="310896"/>
          </a:xfrm>
          <a:prstGeom prst="rect">
            <a:avLst/>
          </a:prstGeom>
          <a:solidFill>
            <a:srgbClr val="265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1928" y="14447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Microscopic starting 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6792" y="1819656"/>
            <a:ext cx="4690872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∂f/∂t + v_g · ∇_r f = ( ∂f/∂t )_coll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749039"/>
            <a:ext cx="4663440" cy="18288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1E1E"/>
                </a:solidFill>
                <a:latin typeface="Aptos"/>
              </a:defRPr>
            </a:pPr>
            <a:r>
              <a:t>Here f is the phonon distribution function and the collision term encodes scattering.</a:t>
            </a:r>
          </a:p>
          <a:p>
            <a:pPr>
              <a:spcAft>
                <a:spcPts val="600"/>
              </a:spcAft>
              <a:defRPr sz="1700">
                <a:solidFill>
                  <a:srgbClr val="1E1E1E"/>
                </a:solidFill>
                <a:latin typeface="Aptos"/>
              </a:defRPr>
            </a:pPr>
            <a:r>
              <a:t>Module 4b keeps this microscopic logic while still aiming for a reduced executable PDE.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Module 4b exists to capture physics that a single bulk conductivity k cannot.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Module 4b: reduced phonon-aware thermal transport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From phonon scattering logic to a defect-dependent conductivity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212080" cy="45720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A practical reduced model is to let the conductivity depend on defect concentration, temperature, or both.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This is motivated by phonon-defect scattering: more defects shorten the phonon mean free path and reduce thermal conductivity.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The PDE can still resemble the heat equation, but the physics inside k is richer.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25880"/>
            <a:ext cx="5074920" cy="1645920"/>
          </a:xfrm>
          <a:prstGeom prst="roundRect">
            <a:avLst/>
          </a:prstGeom>
          <a:solidFill>
            <a:srgbClr val="EAF3F8"/>
          </a:solidFill>
          <a:ln w="15875"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26480" y="1325880"/>
            <a:ext cx="5074920" cy="310896"/>
          </a:xfrm>
          <a:prstGeom prst="rect">
            <a:avLst/>
          </a:prstGeom>
          <a:solidFill>
            <a:srgbClr val="265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6208" y="1353312"/>
            <a:ext cx="4892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Defect-aware conductivity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1072" y="1728216"/>
            <a:ext cx="478231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k = k(T, C_d, ... 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246120"/>
            <a:ext cx="5074920" cy="2057400"/>
          </a:xfrm>
          <a:prstGeom prst="roundRect">
            <a:avLst/>
          </a:prstGeom>
          <a:solidFill>
            <a:srgbClr val="F5F7FA"/>
          </a:solidFill>
          <a:ln w="15875"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3246120"/>
            <a:ext cx="5074920" cy="310896"/>
          </a:xfrm>
          <a:prstGeom prst="rect">
            <a:avLst/>
          </a:prstGeom>
          <a:solidFill>
            <a:srgbClr val="265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3273552"/>
            <a:ext cx="4892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Module 4b governing 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3648456"/>
            <a:ext cx="478231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ρ c_p ∂T/∂t = ∇ · [ k(T, C_d, ...) ∇T ] + 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Module 4b may look mathematically similar to Module 4a, but it is physically different because the conductivity itself becomes part of the damage physics.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Module 4a versus Module 4b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What should be compared, and when should 4b outperform 4a?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97280"/>
            <a:ext cx="5440680" cy="347472"/>
          </a:xfrm>
          <a:prstGeom prst="roundRect">
            <a:avLst/>
          </a:prstGeom>
          <a:solidFill>
            <a:srgbClr val="F5F7FA"/>
          </a:solidFill>
          <a:ln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43000"/>
            <a:ext cx="5212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A5F"/>
                </a:solidFill>
                <a:latin typeface="Aptos"/>
              </a:rPr>
              <a:t>When 4b is expected to matter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97280"/>
            <a:ext cx="5440680" cy="347472"/>
          </a:xfrm>
          <a:prstGeom prst="roundRect">
            <a:avLst/>
          </a:prstGeom>
          <a:solidFill>
            <a:srgbClr val="F5F7FA"/>
          </a:solidFill>
          <a:ln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1928" y="1143000"/>
            <a:ext cx="5212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A5F"/>
                </a:solidFill>
                <a:latin typeface="Aptos"/>
              </a:rPr>
              <a:t>Comparison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72768"/>
            <a:ext cx="5212080" cy="41605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High defect densities that materially change phonon scattering.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Strong local gradients or small geometric features where bulk-like heat flow becomes questionable.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Cases where a constant or weakly varying conductivity fails to reproduce the measured or simulated thermal response.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72768"/>
            <a:ext cx="5212080" cy="41605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1E1E"/>
                </a:solidFill>
                <a:latin typeface="Aptos"/>
              </a:defRPr>
            </a:pPr>
            <a:r>
              <a:t>Compare temperature peaks, lateral spreading rates, relaxation times, and the resulting impact on D(T) and k(T) in Module 3.</a:t>
            </a:r>
          </a:p>
          <a:p>
            <a:pPr>
              <a:spcAft>
                <a:spcPts val="600"/>
              </a:spcAft>
              <a:defRPr sz="1800">
                <a:solidFill>
                  <a:srgbClr val="1E1E1E"/>
                </a:solidFill>
                <a:latin typeface="Aptos"/>
              </a:defRPr>
            </a:pPr>
            <a:r>
              <a:t>The point is not only to compare temperatures, but also to compare downstream defect-evolution consequences.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Module 4b is justified only if the richer thermal physics changes the defect and device predictions in a meaningful way.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Module 5: carrier transport under a damaged field and trap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Planned physics summary from the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61872"/>
            <a:ext cx="5440680" cy="46634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Once the defect state and electrostatic field are known, the next question is device behavior.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Electrons and holes move by drift in the electric field and diffusion down concentration gradients.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Defects also act as traps and recombination centers, so radiation damage affects not only fields but carrier lifetimes and transport pathways.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25880"/>
            <a:ext cx="4892040" cy="1965960"/>
          </a:xfrm>
          <a:prstGeom prst="roundRect">
            <a:avLst/>
          </a:prstGeom>
          <a:solidFill>
            <a:srgbClr val="EAF3F8"/>
          </a:solidFill>
          <a:ln w="15875"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325880"/>
            <a:ext cx="4892040" cy="310896"/>
          </a:xfrm>
          <a:prstGeom prst="rect">
            <a:avLst/>
          </a:prstGeom>
          <a:solidFill>
            <a:srgbClr val="265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353312"/>
            <a:ext cx="4709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Carrier-current picture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1728216"/>
            <a:ext cx="4599432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J_n = q μ_n n E + q D_n ∇n</a:t>
            </a:r>
          </a:p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J_p = q μ_p p E − q D_p ∇p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611880"/>
            <a:ext cx="4892040" cy="1737360"/>
          </a:xfrm>
          <a:prstGeom prst="roundRect">
            <a:avLst/>
          </a:prstGeom>
          <a:solidFill>
            <a:srgbClr val="F5F7FA"/>
          </a:solidFill>
          <a:ln w="15875"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3611880"/>
            <a:ext cx="4892040" cy="310896"/>
          </a:xfrm>
          <a:prstGeom prst="rect">
            <a:avLst/>
          </a:prstGeom>
          <a:solidFill>
            <a:srgbClr val="265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3639312"/>
            <a:ext cx="4709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Continuity with generation/recombination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4014216"/>
            <a:ext cx="459943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∂n/∂t = (1/q) ∇ · J_n + G − R</a:t>
            </a:r>
          </a:p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∂p/∂t = −(1/q) ∇ · J_p + G − 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Module 5 is where the materials physics becomes an electrical-performance prediction.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Module 6: coupled multiphysics degradation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Why the modules cannot remain independent forever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61872"/>
            <a:ext cx="5440680" cy="4709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In the final framework, Modules 2, 3, 4a/4b, and 5 must be iterated to consistency.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Defects modify space charge and recombination.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Temperature modifies defect kinetics and transport coefficients.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Carrier transport can create additional Joule heating and alter occupations.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4846320" cy="1783080"/>
          </a:xfrm>
          <a:prstGeom prst="roundRect">
            <a:avLst/>
          </a:prstGeom>
          <a:solidFill>
            <a:srgbClr val="EAF3F8"/>
          </a:solidFill>
          <a:ln w="15875"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9360" y="1325880"/>
            <a:ext cx="4846320" cy="310896"/>
          </a:xfrm>
          <a:prstGeom prst="rect">
            <a:avLst/>
          </a:prstGeom>
          <a:solidFill>
            <a:srgbClr val="265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353312"/>
            <a:ext cx="4663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Coupled unknowns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728216"/>
            <a:ext cx="4553712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>
                <a:solidFill>
                  <a:srgbClr val="1E1E1E"/>
                </a:solidFill>
                <a:latin typeface="Cambria Math"/>
              </a:rPr>
              <a:t>{ C_j(x,y,t),  T(x,y,t),  φ(x,y,t),  n(x,y,t),  p(x,y,t)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520440"/>
            <a:ext cx="4663440" cy="19659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1E1E"/>
                </a:solidFill>
                <a:latin typeface="Aptos"/>
              </a:defRPr>
            </a:pPr>
            <a:r>
              <a:t>A practical strategy is weak one-way coupling first, then stronger feedback, and finally iterative convergence to a chosen tolerance.</a:t>
            </a:r>
          </a:p>
          <a:p>
            <a:pPr>
              <a:spcAft>
                <a:spcPts val="600"/>
              </a:spcAft>
              <a:defRPr sz="1700">
                <a:solidFill>
                  <a:srgbClr val="1E1E1E"/>
                </a:solidFill>
                <a:latin typeface="Aptos"/>
              </a:defRPr>
            </a:pPr>
            <a:r>
              <a:t>This makes the multiphysics executable without pretending the fully coupled problem is easy on day 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Module 6 is the point where the project becomes a real degradation simulator rather than a set of separate solvers.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Module 7: multiscale extrapolation and scalable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How to move beyond what a direct high-fidelity solve can afford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424160" cy="44805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1E1E1E"/>
                </a:solidFill>
                <a:latin typeface="Aptos"/>
              </a:defRPr>
            </a:pPr>
            <a:r>
              <a:t>Direct high-fidelity simulation will always be limited in spatial extent, time horizon, or event statistics.</a:t>
            </a:r>
          </a:p>
          <a:p>
            <a:pPr>
              <a:spcAft>
                <a:spcPts val="600"/>
              </a:spcAft>
              <a:defRPr sz="2100">
                <a:solidFill>
                  <a:srgbClr val="1E1E1E"/>
                </a:solidFill>
                <a:latin typeface="Aptos"/>
              </a:defRPr>
            </a:pPr>
            <a:r>
              <a:t>Module 7 exists to push beyond those limits using controlled approximations rather than uncontrolled guesses.</a:t>
            </a:r>
          </a:p>
          <a:p>
            <a:pPr>
              <a:spcAft>
                <a:spcPts val="600"/>
              </a:spcAft>
              <a:defRPr sz="2100">
                <a:solidFill>
                  <a:srgbClr val="1E1E1E"/>
                </a:solidFill>
                <a:latin typeface="Aptos"/>
              </a:defRPr>
            </a:pPr>
            <a:r>
              <a:t>Candidate strategies include reduced-order models, statistical upscaling, surrogate models, hybrid multiresolution workflows, and quantified error bars.</a:t>
            </a:r>
          </a:p>
          <a:p>
            <a:pPr>
              <a:spcAft>
                <a:spcPts val="600"/>
              </a:spcAft>
              <a:defRPr sz="2100">
                <a:solidFill>
                  <a:srgbClr val="1E1E1E"/>
                </a:solidFill>
                <a:latin typeface="Aptos"/>
              </a:defRPr>
            </a:pPr>
            <a:r>
              <a:t>This module is especially important if the project is eventually used to predict rare-event degradation or large-area device behavior.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Module 7 is what turns a physically rich simulator into a practically useful prediction tool.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556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Conclusion and immediate presentation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626C"/>
                </a:solidFill>
                <a:latin typeface="Aptos"/>
              </a:rPr>
              <a:t>What this lecture-style deck is trying to communicate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7160" y="640080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626C"/>
                </a:solidFill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97280"/>
            <a:ext cx="5440680" cy="347472"/>
          </a:xfrm>
          <a:prstGeom prst="roundRect">
            <a:avLst/>
          </a:prstGeom>
          <a:solidFill>
            <a:srgbClr val="F5F7FA"/>
          </a:solidFill>
          <a:ln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43000"/>
            <a:ext cx="5212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A5F"/>
                </a:solidFill>
                <a:latin typeface="Aptos"/>
              </a:rPr>
              <a:t>Main scientific message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97280"/>
            <a:ext cx="5440680" cy="347472"/>
          </a:xfrm>
          <a:prstGeom prst="roundRect">
            <a:avLst/>
          </a:prstGeom>
          <a:solidFill>
            <a:srgbClr val="F5F7FA"/>
          </a:solidFill>
          <a:ln>
            <a:solidFill>
              <a:srgbClr val="265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1928" y="1143000"/>
            <a:ext cx="5212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A5F"/>
                </a:solidFill>
                <a:latin typeface="Aptos"/>
              </a:rPr>
              <a:t>What to emphasize during the talk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5212080" cy="42062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Radiation damage in silicon is a dynamic, coupled, multiphysics problem.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The project is designed to connect initial radiation deposition to measurable device degradation through explicit intermediate physics.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The existing physics notes already define the backbone for Modules 2, 3, 4a, and 4b.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54480"/>
            <a:ext cx="5166360" cy="42062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Use your custom drawings to show the physical picture, not to replace the equations.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Treat each slide as one derivation step or one physical idea.</a:t>
            </a:r>
          </a:p>
          <a:p>
            <a:pPr>
              <a:spcAft>
                <a:spcPts val="600"/>
              </a:spcAft>
              <a:defRPr sz="1900">
                <a:solidFill>
                  <a:srgbClr val="1E1E1E"/>
                </a:solidFill>
                <a:latin typeface="Aptos"/>
              </a:defRPr>
            </a:pPr>
            <a:r>
              <a:t>For a 30-minute talk, this 20-slide version is a build draft; later trim by merging slides within each module.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97880"/>
            <a:ext cx="11109960" cy="457200"/>
          </a:xfrm>
          <a:prstGeom prst="roundRect">
            <a:avLst/>
          </a:prstGeom>
          <a:solidFill>
            <a:srgbClr val="F5F7FA"/>
          </a:solidFill>
          <a:ln w="16510">
            <a:solidFill>
              <a:srgbClr val="2C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E1E1E"/>
                </a:solidFill>
                <a:latin typeface="Aptos"/>
              </a:rPr>
              <a:t>Key point: The strongest framing is: radiation creates evolving material damage, and evolving material damage changes device behavior.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